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Akzidenz-Grotesk Bold" charset="1" panose="02000803050000020004"/>
      <p:regular r:id="rId34"/>
    </p:embeddedFont>
    <p:embeddedFont>
      <p:font typeface="Akzidenz-Grotesk" charset="1" panose="02000503030000020003"/>
      <p:regular r:id="rId35"/>
    </p:embeddedFont>
    <p:embeddedFont>
      <p:font typeface="Handy Casual" charset="1" panose="00000500000000000000"/>
      <p:regular r:id="rId36"/>
    </p:embeddedFont>
    <p:embeddedFont>
      <p:font typeface="Atkinson Hyperlegible" charset="1" panose="00000000000000000000"/>
      <p:regular r:id="rId37"/>
    </p:embeddedFont>
    <p:embeddedFont>
      <p:font typeface="Anek Bangla SemiExpanded" charset="1" panose="00000000000000000000"/>
      <p:regular r:id="rId38"/>
    </p:embeddedFont>
    <p:embeddedFont>
      <p:font typeface="Canva Sans" charset="1" panose="020B0503030501040103"/>
      <p:regular r:id="rId39"/>
    </p:embeddedFont>
    <p:embeddedFont>
      <p:font typeface="Canva Sans Bold" charset="1" panose="020B0803030501040103"/>
      <p:regular r:id="rId40"/>
    </p:embeddedFont>
    <p:embeddedFont>
      <p:font typeface="Anek Bangla SemiExpanded Bold" charset="1" panose="00000000000000000000"/>
      <p:regular r:id="rId41"/>
    </p:embeddedFont>
    <p:embeddedFont>
      <p:font typeface="Scripter" charset="1" panose="00000000000000000000"/>
      <p:regular r:id="rId42"/>
    </p:embeddedFont>
    <p:embeddedFont>
      <p:font typeface="Nunito" charset="1" panose="00000500000000000000"/>
      <p:regular r:id="rId43"/>
    </p:embeddedFont>
    <p:embeddedFont>
      <p:font typeface="Nunito Bold" charset="1" panose="00000800000000000000"/>
      <p:regular r:id="rId44"/>
    </p:embeddedFont>
    <p:embeddedFont>
      <p:font typeface="Arimo Bold" charset="1" panose="020B0704020202020204"/>
      <p:regular r:id="rId45"/>
    </p:embeddedFont>
    <p:embeddedFont>
      <p:font typeface="DM Sans Bold" charset="1" panose="00000000000000000000"/>
      <p:regular r:id="rId46"/>
    </p:embeddedFont>
    <p:embeddedFont>
      <p:font typeface="Anek Bangla SemiExpanded Ultra-Bold" charset="1" panose="00000000000000000000"/>
      <p:regular r:id="rId47"/>
    </p:embeddedFont>
    <p:embeddedFont>
      <p:font typeface="Anek Bangla SemiExpanded Light" charset="1" panose="00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slide24.xml" Type="http://schemas.openxmlformats.org/officeDocument/2006/relationships/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slide23.xml" Type="http://schemas.openxmlformats.org/officeDocument/2006/relationships/slid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jpe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46.png" Type="http://schemas.openxmlformats.org/officeDocument/2006/relationships/image"/><Relationship Id="rId5" Target="slide25.xml" Type="http://schemas.openxmlformats.org/officeDocument/2006/relationships/slid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48.png" Type="http://schemas.openxmlformats.org/officeDocument/2006/relationships/image"/><Relationship Id="rId14" Target="../media/image52.jpe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47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54.png" Type="http://schemas.openxmlformats.org/officeDocument/2006/relationships/image"/><Relationship Id="rId7" Target="../media/image51.png" Type="http://schemas.openxmlformats.org/officeDocument/2006/relationships/image"/><Relationship Id="rId8" Target="../media/image55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17" Target="../media/image82.png" Type="http://schemas.openxmlformats.org/officeDocument/2006/relationships/image"/><Relationship Id="rId18" Target="../media/image83.svg" Type="http://schemas.openxmlformats.org/officeDocument/2006/relationships/image"/><Relationship Id="rId19" Target="../media/image84.png" Type="http://schemas.openxmlformats.org/officeDocument/2006/relationships/image"/><Relationship Id="rId2" Target="../media/image67.png" Type="http://schemas.openxmlformats.org/officeDocument/2006/relationships/image"/><Relationship Id="rId20" Target="../media/image85.sv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https://drive.google.com/file/d/1gT7_GV9bV3EkahFCqtlHNj0aKRaJa2Ti/view" TargetMode="External" Type="http://schemas.openxmlformats.org/officeDocument/2006/relationships/hyperlink"/><Relationship Id="rId4" Target="https://drive.google.com/file/d/1gT7_GV9bV3EkahFCqtlHNj0aKRaJa2Ti/view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86.png" Type="http://schemas.openxmlformats.org/officeDocument/2006/relationships/image"/><Relationship Id="rId5" Target="../media/image8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svg" Type="http://schemas.openxmlformats.org/officeDocument/2006/relationships/image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91.png" Type="http://schemas.openxmlformats.org/officeDocument/2006/relationships/image"/><Relationship Id="rId6" Target="../media/image92.svg" Type="http://schemas.openxmlformats.org/officeDocument/2006/relationships/image"/><Relationship Id="rId7" Target="../media/image93.png" Type="http://schemas.openxmlformats.org/officeDocument/2006/relationships/image"/><Relationship Id="rId8" Target="../media/image94.sv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svg" Type="http://schemas.openxmlformats.org/officeDocument/2006/relationships/image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slide7.xml" Type="http://schemas.openxmlformats.org/officeDocument/2006/relationships/slide"/><Relationship Id="rId5" Target="../media/image99.png" Type="http://schemas.openxmlformats.org/officeDocument/2006/relationships/image"/><Relationship Id="rId6" Target="../media/image100.svg" Type="http://schemas.openxmlformats.org/officeDocument/2006/relationships/image"/><Relationship Id="rId7" Target="../media/image101.png" Type="http://schemas.openxmlformats.org/officeDocument/2006/relationships/image"/><Relationship Id="rId8" Target="../media/image102.sv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7.xml" Type="http://schemas.openxmlformats.org/officeDocument/2006/relationships/slid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10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0.xml" Type="http://schemas.openxmlformats.org/officeDocument/2006/relationships/slid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png" Type="http://schemas.openxmlformats.org/officeDocument/2006/relationships/image"/><Relationship Id="rId4" Target="../media/image114.sv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1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83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4200" y="-564787"/>
            <a:ext cx="11252895" cy="5708287"/>
          </a:xfrm>
          <a:custGeom>
            <a:avLst/>
            <a:gdLst/>
            <a:ahLst/>
            <a:cxnLst/>
            <a:rect r="r" b="b" t="t" l="l"/>
            <a:pathLst>
              <a:path h="5708287" w="11252895">
                <a:moveTo>
                  <a:pt x="0" y="0"/>
                </a:moveTo>
                <a:lnTo>
                  <a:pt x="11252895" y="0"/>
                </a:lnTo>
                <a:lnTo>
                  <a:pt x="11252895" y="5708287"/>
                </a:lnTo>
                <a:lnTo>
                  <a:pt x="0" y="57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6948" y="2394132"/>
            <a:ext cx="10617788" cy="51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0"/>
              </a:lnSpc>
            </a:pPr>
            <a:r>
              <a:rPr lang="en-US" b="true" sz="11834" spc="-828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Jal Drishti </a:t>
            </a:r>
          </a:p>
          <a:p>
            <a:pPr algn="ctr">
              <a:lnSpc>
                <a:spcPts val="3631"/>
              </a:lnSpc>
            </a:pPr>
          </a:p>
          <a:p>
            <a:pPr algn="ctr">
              <a:lnSpc>
                <a:spcPts val="8041"/>
              </a:lnSpc>
            </a:pPr>
            <a:r>
              <a:rPr lang="en-US" sz="8934" spc="-625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Smart Rural Water Quality and Distribution Monitor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75848" y="1028700"/>
            <a:ext cx="1683452" cy="4583657"/>
          </a:xfrm>
          <a:custGeom>
            <a:avLst/>
            <a:gdLst/>
            <a:ahLst/>
            <a:cxnLst/>
            <a:rect r="r" b="b" t="t" l="l"/>
            <a:pathLst>
              <a:path h="4583657" w="1683452">
                <a:moveTo>
                  <a:pt x="0" y="0"/>
                </a:moveTo>
                <a:lnTo>
                  <a:pt x="1683452" y="0"/>
                </a:lnTo>
                <a:lnTo>
                  <a:pt x="1683452" y="4583657"/>
                </a:lnTo>
                <a:lnTo>
                  <a:pt x="0" y="4583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46503" y="7815220"/>
            <a:ext cx="2722322" cy="62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32"/>
              </a:lnSpc>
              <a:spcBef>
                <a:spcPct val="0"/>
              </a:spcBef>
            </a:pPr>
            <a:r>
              <a:rPr lang="en-US" b="true" sz="3166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Presented by</a:t>
            </a:r>
          </a:p>
        </p:txBody>
      </p:sp>
      <p:sp>
        <p:nvSpPr>
          <p:cNvPr name="AutoShape 6" id="6"/>
          <p:cNvSpPr/>
          <p:nvPr/>
        </p:nvSpPr>
        <p:spPr>
          <a:xfrm>
            <a:off x="16417574" y="7493904"/>
            <a:ext cx="841726" cy="0"/>
          </a:xfrm>
          <a:prstGeom prst="line">
            <a:avLst/>
          </a:prstGeom>
          <a:ln cap="flat" w="38100">
            <a:solidFill>
              <a:srgbClr val="FAF9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06948" y="639201"/>
            <a:ext cx="4288222" cy="1144499"/>
          </a:xfrm>
          <a:custGeom>
            <a:avLst/>
            <a:gdLst/>
            <a:ahLst/>
            <a:cxnLst/>
            <a:rect r="r" b="b" t="t" l="l"/>
            <a:pathLst>
              <a:path h="1144499" w="4288222">
                <a:moveTo>
                  <a:pt x="0" y="0"/>
                </a:moveTo>
                <a:lnTo>
                  <a:pt x="4288222" y="0"/>
                </a:lnTo>
                <a:lnTo>
                  <a:pt x="4288222" y="1144500"/>
                </a:lnTo>
                <a:lnTo>
                  <a:pt x="0" y="114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087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37446" y="8362389"/>
            <a:ext cx="1005364" cy="6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Group 27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229355" y="8816731"/>
            <a:ext cx="10029945" cy="39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Samp</a:t>
            </a: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urna Raychaudhuri </a:t>
            </a:r>
            <a:r>
              <a:rPr lang="en-US" b="true" sz="1999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|</a:t>
            </a: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Yarragorla Sri Harshitha </a:t>
            </a:r>
            <a:r>
              <a:rPr lang="en-US" b="true" sz="1999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| </a:t>
            </a: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Monica M</a:t>
            </a:r>
            <a:r>
              <a:rPr lang="en-US" b="true" sz="1999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| </a:t>
            </a: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 Deekshitha </a:t>
            </a:r>
            <a:r>
              <a:rPr lang="en-US" b="true" sz="1999">
                <a:solidFill>
                  <a:srgbClr val="FAF9F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| </a:t>
            </a:r>
            <a:r>
              <a:rPr lang="en-US" sz="1999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Arushi Katiyar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2252161" y="8438589"/>
            <a:ext cx="8804611" cy="853310"/>
            <a:chOff x="0" y="0"/>
            <a:chExt cx="11739482" cy="113774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1739482" cy="635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14"/>
                </a:lnSpc>
                <a:spcBef>
                  <a:spcPct val="0"/>
                </a:spcBef>
              </a:pPr>
              <a:r>
                <a:rPr lang="en-US" b="true" sz="3114" spc="-218">
                  <a:solidFill>
                    <a:srgbClr val="FAF9F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Mentors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605093" y="627841"/>
              <a:ext cx="4529296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AF9F4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Neha Zanjad | Vishnu Vardhan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0" y="9163050"/>
            <a:ext cx="10029945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AF9F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WiSH134 | WiSH135 | WiSH136 | WiSH137 | WiSH138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3754" y="5412762"/>
            <a:ext cx="5661591" cy="6513921"/>
            <a:chOff x="0" y="0"/>
            <a:chExt cx="1543228" cy="1775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3228" cy="1775555"/>
            </a:xfrm>
            <a:custGeom>
              <a:avLst/>
              <a:gdLst/>
              <a:ahLst/>
              <a:cxnLst/>
              <a:rect r="r" b="b" t="t" l="l"/>
              <a:pathLst>
                <a:path h="1775555" w="1543228">
                  <a:moveTo>
                    <a:pt x="0" y="0"/>
                  </a:moveTo>
                  <a:lnTo>
                    <a:pt x="1543228" y="0"/>
                  </a:lnTo>
                  <a:lnTo>
                    <a:pt x="1543228" y="1775555"/>
                  </a:lnTo>
                  <a:lnTo>
                    <a:pt x="0" y="1775555"/>
                  </a:lnTo>
                  <a:close/>
                </a:path>
              </a:pathLst>
            </a:custGeom>
            <a:solidFill>
              <a:srgbClr val="6760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43228" cy="1861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18703" y="5786629"/>
            <a:ext cx="4037612" cy="5547522"/>
          </a:xfrm>
          <a:custGeom>
            <a:avLst/>
            <a:gdLst/>
            <a:ahLst/>
            <a:cxnLst/>
            <a:rect r="r" b="b" t="t" l="l"/>
            <a:pathLst>
              <a:path h="5547522" w="4037612">
                <a:moveTo>
                  <a:pt x="0" y="0"/>
                </a:moveTo>
                <a:lnTo>
                  <a:pt x="4037612" y="0"/>
                </a:lnTo>
                <a:lnTo>
                  <a:pt x="4037612" y="5547523"/>
                </a:lnTo>
                <a:lnTo>
                  <a:pt x="0" y="5547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1411" y="2033809"/>
            <a:ext cx="5707725" cy="8862494"/>
            <a:chOff x="0" y="0"/>
            <a:chExt cx="1435887" cy="2229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5887" cy="2229529"/>
            </a:xfrm>
            <a:custGeom>
              <a:avLst/>
              <a:gdLst/>
              <a:ahLst/>
              <a:cxnLst/>
              <a:rect r="r" b="b" t="t" l="l"/>
              <a:pathLst>
                <a:path h="2229529" w="1435887">
                  <a:moveTo>
                    <a:pt x="0" y="0"/>
                  </a:moveTo>
                  <a:lnTo>
                    <a:pt x="1435887" y="0"/>
                  </a:lnTo>
                  <a:lnTo>
                    <a:pt x="1435887" y="2229529"/>
                  </a:lnTo>
                  <a:lnTo>
                    <a:pt x="0" y="2229529"/>
                  </a:lnTo>
                  <a:close/>
                </a:path>
              </a:pathLst>
            </a:custGeom>
            <a:solidFill>
              <a:srgbClr val="998F75">
                <a:alpha val="7686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435887" cy="2315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66517" y="-227721"/>
            <a:ext cx="6548494" cy="5640482"/>
            <a:chOff x="0" y="0"/>
            <a:chExt cx="1828169" cy="15746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169" cy="1574676"/>
            </a:xfrm>
            <a:custGeom>
              <a:avLst/>
              <a:gdLst/>
              <a:ahLst/>
              <a:cxnLst/>
              <a:rect r="r" b="b" t="t" l="l"/>
              <a:pathLst>
                <a:path h="1574676" w="1828169">
                  <a:moveTo>
                    <a:pt x="0" y="0"/>
                  </a:moveTo>
                  <a:lnTo>
                    <a:pt x="1828169" y="0"/>
                  </a:lnTo>
                  <a:lnTo>
                    <a:pt x="1828169" y="1574676"/>
                  </a:lnTo>
                  <a:lnTo>
                    <a:pt x="0" y="1574676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169" cy="166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06081" y="2225426"/>
            <a:ext cx="4906817" cy="8061574"/>
          </a:xfrm>
          <a:custGeom>
            <a:avLst/>
            <a:gdLst/>
            <a:ahLst/>
            <a:cxnLst/>
            <a:rect r="r" b="b" t="t" l="l"/>
            <a:pathLst>
              <a:path h="8061574" w="4906817">
                <a:moveTo>
                  <a:pt x="0" y="0"/>
                </a:moveTo>
                <a:lnTo>
                  <a:pt x="4906816" y="0"/>
                </a:lnTo>
                <a:lnTo>
                  <a:pt x="4906816" y="8061574"/>
                </a:lnTo>
                <a:lnTo>
                  <a:pt x="0" y="8061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4" t="0" r="-22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20963" y="-592867"/>
            <a:ext cx="5353152" cy="7057923"/>
            <a:chOff x="0" y="0"/>
            <a:chExt cx="1346687" cy="17755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6687" cy="1775555"/>
            </a:xfrm>
            <a:custGeom>
              <a:avLst/>
              <a:gdLst/>
              <a:ahLst/>
              <a:cxnLst/>
              <a:rect r="r" b="b" t="t" l="l"/>
              <a:pathLst>
                <a:path h="1775555" w="1346687">
                  <a:moveTo>
                    <a:pt x="0" y="0"/>
                  </a:moveTo>
                  <a:lnTo>
                    <a:pt x="1346687" y="0"/>
                  </a:lnTo>
                  <a:lnTo>
                    <a:pt x="1346687" y="1775555"/>
                  </a:lnTo>
                  <a:lnTo>
                    <a:pt x="0" y="1775555"/>
                  </a:lnTo>
                  <a:close/>
                </a:path>
              </a:pathLst>
            </a:custGeom>
            <a:solidFill>
              <a:srgbClr val="B2AC9D">
                <a:alpha val="9372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346687" cy="1861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312897" y="162363"/>
            <a:ext cx="5855732" cy="4895208"/>
          </a:xfrm>
          <a:custGeom>
            <a:avLst/>
            <a:gdLst/>
            <a:ahLst/>
            <a:cxnLst/>
            <a:rect r="r" b="b" t="t" l="l"/>
            <a:pathLst>
              <a:path h="4895208" w="5855732">
                <a:moveTo>
                  <a:pt x="0" y="0"/>
                </a:moveTo>
                <a:lnTo>
                  <a:pt x="5855733" y="0"/>
                </a:lnTo>
                <a:lnTo>
                  <a:pt x="5855733" y="4895208"/>
                </a:lnTo>
                <a:lnTo>
                  <a:pt x="0" y="489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4" r="0" b="-54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11505" y="7177"/>
            <a:ext cx="4252651" cy="6457879"/>
          </a:xfrm>
          <a:custGeom>
            <a:avLst/>
            <a:gdLst/>
            <a:ahLst/>
            <a:cxnLst/>
            <a:rect r="r" b="b" t="t" l="l"/>
            <a:pathLst>
              <a:path h="6457879" w="4252651">
                <a:moveTo>
                  <a:pt x="0" y="0"/>
                </a:moveTo>
                <a:lnTo>
                  <a:pt x="4252651" y="0"/>
                </a:lnTo>
                <a:lnTo>
                  <a:pt x="4252651" y="6457879"/>
                </a:lnTo>
                <a:lnTo>
                  <a:pt x="0" y="6457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423" b="-2615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11505" y="5412762"/>
            <a:ext cx="6670172" cy="4652480"/>
          </a:xfrm>
          <a:custGeom>
            <a:avLst/>
            <a:gdLst/>
            <a:ahLst/>
            <a:cxnLst/>
            <a:rect r="r" b="b" t="t" l="l"/>
            <a:pathLst>
              <a:path h="4652480" w="6670172">
                <a:moveTo>
                  <a:pt x="0" y="0"/>
                </a:moveTo>
                <a:lnTo>
                  <a:pt x="6670172" y="0"/>
                </a:lnTo>
                <a:lnTo>
                  <a:pt x="6670172" y="4652479"/>
                </a:lnTo>
                <a:lnTo>
                  <a:pt x="0" y="4652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1411" y="377186"/>
            <a:ext cx="5554683" cy="129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8325" spc="-582" b="true">
                <a:solidFill>
                  <a:srgbClr val="635C4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Empathise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76463" y="7271910"/>
            <a:ext cx="4700707" cy="213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079" indent="-257539" lvl="1">
              <a:lnSpc>
                <a:spcPts val="3340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Sewage contaminated tap water</a:t>
            </a:r>
          </a:p>
          <a:p>
            <a:pPr algn="l" marL="515079" indent="-257539" lvl="1">
              <a:lnSpc>
                <a:spcPts val="3340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Irregular municipal water supply</a:t>
            </a:r>
          </a:p>
          <a:p>
            <a:pPr algn="l" marL="515079" indent="-257539" lvl="1">
              <a:lnSpc>
                <a:spcPts val="3340"/>
              </a:lnSpc>
              <a:buFont typeface="Arial"/>
              <a:buChar char="•"/>
            </a:pPr>
            <a:r>
              <a:rPr lang="en-US" sz="238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Widespread untreated water </a:t>
            </a:r>
          </a:p>
          <a:p>
            <a:pPr algn="l">
              <a:lnSpc>
                <a:spcPts val="3340"/>
              </a:lnSpc>
            </a:pPr>
            <a:r>
              <a:rPr lang="en-US" sz="238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    </a:t>
            </a:r>
            <a:r>
              <a:rPr lang="en-US" sz="238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consumption</a:t>
            </a:r>
          </a:p>
          <a:p>
            <a:pPr algn="l">
              <a:lnSpc>
                <a:spcPts val="33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837557" y="6344055"/>
            <a:ext cx="293655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OBSERVED REALITIES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512868" y="1058755"/>
            <a:ext cx="549726" cy="549726"/>
          </a:xfrm>
          <a:custGeom>
            <a:avLst/>
            <a:gdLst/>
            <a:ahLst/>
            <a:cxnLst/>
            <a:rect r="r" b="b" t="t" l="l"/>
            <a:pathLst>
              <a:path h="549726" w="549726">
                <a:moveTo>
                  <a:pt x="0" y="0"/>
                </a:moveTo>
                <a:lnTo>
                  <a:pt x="549726" y="0"/>
                </a:lnTo>
                <a:lnTo>
                  <a:pt x="549726" y="549726"/>
                </a:lnTo>
                <a:lnTo>
                  <a:pt x="0" y="549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512868" y="5639865"/>
            <a:ext cx="549726" cy="549726"/>
          </a:xfrm>
          <a:custGeom>
            <a:avLst/>
            <a:gdLst/>
            <a:ahLst/>
            <a:cxnLst/>
            <a:rect r="r" b="b" t="t" l="l"/>
            <a:pathLst>
              <a:path h="549726" w="549726">
                <a:moveTo>
                  <a:pt x="0" y="0"/>
                </a:moveTo>
                <a:lnTo>
                  <a:pt x="549726" y="0"/>
                </a:lnTo>
                <a:lnTo>
                  <a:pt x="549726" y="549726"/>
                </a:lnTo>
                <a:lnTo>
                  <a:pt x="0" y="549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1504685" y="4808561"/>
            <a:ext cx="6066153" cy="0"/>
          </a:xfrm>
          <a:prstGeom prst="line">
            <a:avLst/>
          </a:prstGeom>
          <a:ln cap="flat" w="38100">
            <a:solidFill>
              <a:srgbClr val="635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04236" y="3053435"/>
            <a:ext cx="7809894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spc="-84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Defining 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8913" y="6587285"/>
            <a:ext cx="6526778" cy="123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  <a:spcBef>
                <a:spcPct val="0"/>
              </a:spcBef>
            </a:pPr>
            <a:r>
              <a:rPr lang="en-US" sz="2254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</a:t>
            </a:r>
            <a:r>
              <a:rPr lang="en-US" sz="2254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olution must be</a:t>
            </a:r>
            <a:r>
              <a:rPr lang="en-US" sz="2254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b="true" sz="2254">
                <a:solidFill>
                  <a:srgbClr val="ED28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low-cost</a:t>
            </a:r>
            <a:r>
              <a:rPr lang="en-US" sz="2254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, scalable, and easily deployable within existing rural water networks while providing </a:t>
            </a:r>
            <a:r>
              <a:rPr lang="en-US" b="true" sz="2254">
                <a:solidFill>
                  <a:srgbClr val="ED28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real-time monitoring</a:t>
            </a:r>
            <a:r>
              <a:rPr lang="en-US" sz="2254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and alerts.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4236" y="1493725"/>
            <a:ext cx="1098506" cy="1321510"/>
          </a:xfrm>
          <a:custGeom>
            <a:avLst/>
            <a:gdLst/>
            <a:ahLst/>
            <a:cxnLst/>
            <a:rect r="r" b="b" t="t" l="l"/>
            <a:pathLst>
              <a:path h="1321510" w="1098506">
                <a:moveTo>
                  <a:pt x="0" y="0"/>
                </a:moveTo>
                <a:lnTo>
                  <a:pt x="1098506" y="0"/>
                </a:lnTo>
                <a:lnTo>
                  <a:pt x="1098506" y="1321510"/>
                </a:lnTo>
                <a:lnTo>
                  <a:pt x="0" y="1321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3911" y="4808561"/>
            <a:ext cx="2049578" cy="5580535"/>
          </a:xfrm>
          <a:custGeom>
            <a:avLst/>
            <a:gdLst/>
            <a:ahLst/>
            <a:cxnLst/>
            <a:rect r="r" b="b" t="t" l="l"/>
            <a:pathLst>
              <a:path h="5580535" w="2049578">
                <a:moveTo>
                  <a:pt x="0" y="5580535"/>
                </a:moveTo>
                <a:lnTo>
                  <a:pt x="2049578" y="5580535"/>
                </a:lnTo>
                <a:lnTo>
                  <a:pt x="2049578" y="0"/>
                </a:lnTo>
                <a:lnTo>
                  <a:pt x="0" y="0"/>
                </a:lnTo>
                <a:lnTo>
                  <a:pt x="0" y="558053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15691" y="6789852"/>
            <a:ext cx="4261468" cy="2967282"/>
            <a:chOff x="0" y="0"/>
            <a:chExt cx="1122362" cy="7815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2362" cy="781506"/>
            </a:xfrm>
            <a:custGeom>
              <a:avLst/>
              <a:gdLst/>
              <a:ahLst/>
              <a:cxnLst/>
              <a:rect r="r" b="b" t="t" l="l"/>
              <a:pathLst>
                <a:path h="781506" w="1122362">
                  <a:moveTo>
                    <a:pt x="0" y="0"/>
                  </a:moveTo>
                  <a:lnTo>
                    <a:pt x="1122362" y="0"/>
                  </a:lnTo>
                  <a:lnTo>
                    <a:pt x="1122362" y="781506"/>
                  </a:lnTo>
                  <a:lnTo>
                    <a:pt x="0" y="781506"/>
                  </a:lnTo>
                  <a:close/>
                </a:path>
              </a:pathLst>
            </a:custGeom>
            <a:solidFill>
              <a:srgbClr val="A599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122362" cy="867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88338" y="1673972"/>
            <a:ext cx="3988821" cy="3010764"/>
            <a:chOff x="0" y="0"/>
            <a:chExt cx="1050554" cy="7929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0554" cy="792958"/>
            </a:xfrm>
            <a:custGeom>
              <a:avLst/>
              <a:gdLst/>
              <a:ahLst/>
              <a:cxnLst/>
              <a:rect r="r" b="b" t="t" l="l"/>
              <a:pathLst>
                <a:path h="792958" w="1050554">
                  <a:moveTo>
                    <a:pt x="0" y="0"/>
                  </a:moveTo>
                  <a:lnTo>
                    <a:pt x="1050554" y="0"/>
                  </a:lnTo>
                  <a:lnTo>
                    <a:pt x="1050554" y="792958"/>
                  </a:lnTo>
                  <a:lnTo>
                    <a:pt x="0" y="792958"/>
                  </a:lnTo>
                  <a:close/>
                </a:path>
              </a:pathLst>
            </a:custGeom>
            <a:solidFill>
              <a:srgbClr val="A599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050554" cy="878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586087" y="1825402"/>
            <a:ext cx="3593323" cy="2707904"/>
          </a:xfrm>
          <a:custGeom>
            <a:avLst/>
            <a:gdLst/>
            <a:ahLst/>
            <a:cxnLst/>
            <a:rect r="r" b="b" t="t" l="l"/>
            <a:pathLst>
              <a:path h="2707904" w="3593323">
                <a:moveTo>
                  <a:pt x="0" y="0"/>
                </a:moveTo>
                <a:lnTo>
                  <a:pt x="3593322" y="0"/>
                </a:lnTo>
                <a:lnTo>
                  <a:pt x="3593322" y="2707904"/>
                </a:lnTo>
                <a:lnTo>
                  <a:pt x="0" y="2707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66308" y="6985104"/>
            <a:ext cx="3909643" cy="2539314"/>
          </a:xfrm>
          <a:custGeom>
            <a:avLst/>
            <a:gdLst/>
            <a:ahLst/>
            <a:cxnLst/>
            <a:rect r="r" b="b" t="t" l="l"/>
            <a:pathLst>
              <a:path h="2539314" w="3909643">
                <a:moveTo>
                  <a:pt x="0" y="0"/>
                </a:moveTo>
                <a:lnTo>
                  <a:pt x="3909643" y="0"/>
                </a:lnTo>
                <a:lnTo>
                  <a:pt x="3909643" y="2539314"/>
                </a:lnTo>
                <a:lnTo>
                  <a:pt x="0" y="2539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885" r="-26855" b="-1991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28023" y="898730"/>
            <a:ext cx="524790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635C4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Water Quality Monitoring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28023" y="5525565"/>
            <a:ext cx="5247907" cy="115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635C4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Water Distribution Monitoring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39560" y="1194555"/>
            <a:ext cx="5431277" cy="382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</a:p>
          <a:p>
            <a:pPr algn="l" marL="580955" indent="-290477" lvl="1">
              <a:lnSpc>
                <a:spcPts val="3767"/>
              </a:lnSpc>
              <a:buFont typeface="Arial"/>
              <a:buChar char="•"/>
            </a:pPr>
            <a:r>
              <a:rPr lang="en-US" sz="269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Difficult to detect pathogen contamination.</a:t>
            </a:r>
          </a:p>
          <a:p>
            <a:pPr algn="l" marL="580955" indent="-290477" lvl="1">
              <a:lnSpc>
                <a:spcPts val="3767"/>
              </a:lnSpc>
              <a:buFont typeface="Arial"/>
              <a:buChar char="•"/>
            </a:pPr>
            <a:r>
              <a:rPr lang="en-US" sz="269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Risk to safe drinking water supply.</a:t>
            </a:r>
          </a:p>
          <a:p>
            <a:pPr algn="l" marL="580955" indent="-290477" lvl="1">
              <a:lnSpc>
                <a:spcPts val="3767"/>
              </a:lnSpc>
              <a:buFont typeface="Arial"/>
              <a:buChar char="•"/>
            </a:pPr>
            <a:r>
              <a:rPr lang="en-US" sz="269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Lack of continuous water quality monitoring. </a:t>
            </a:r>
          </a:p>
          <a:p>
            <a:pPr algn="l">
              <a:lnSpc>
                <a:spcPts val="3767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139560" y="6880329"/>
            <a:ext cx="5247907" cy="323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Uneven water distribution in rural networks.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Tail-end households face water shortages.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Poor distribution affects supply reliability.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6616" y="3336785"/>
            <a:ext cx="6817607" cy="1543050"/>
            <a:chOff x="0" y="0"/>
            <a:chExt cx="179558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8128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212482" y="1208995"/>
            <a:ext cx="14287" cy="2326707"/>
          </a:xfrm>
          <a:prstGeom prst="line">
            <a:avLst/>
          </a:prstGeom>
          <a:ln cap="rnd" w="19050">
            <a:solidFill>
              <a:srgbClr val="635C4C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000223" y="3336785"/>
            <a:ext cx="6817607" cy="1543050"/>
            <a:chOff x="0" y="0"/>
            <a:chExt cx="179558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A599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68128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61415" y="3336785"/>
            <a:ext cx="6817607" cy="1543050"/>
            <a:chOff x="0" y="0"/>
            <a:chExt cx="1795584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68128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94874" y="3365360"/>
            <a:ext cx="6817607" cy="1543050"/>
            <a:chOff x="0" y="0"/>
            <a:chExt cx="1795584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837A6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68128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230836" y="3336785"/>
            <a:ext cx="6817607" cy="1543050"/>
            <a:chOff x="0" y="0"/>
            <a:chExt cx="1795584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6760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68128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25152" y="305250"/>
            <a:ext cx="1199119" cy="1446901"/>
          </a:xfrm>
          <a:custGeom>
            <a:avLst/>
            <a:gdLst/>
            <a:ahLst/>
            <a:cxnLst/>
            <a:rect r="r" b="b" t="t" l="l"/>
            <a:pathLst>
              <a:path h="1446901" w="1199119">
                <a:moveTo>
                  <a:pt x="0" y="0"/>
                </a:moveTo>
                <a:lnTo>
                  <a:pt x="1199119" y="0"/>
                </a:lnTo>
                <a:lnTo>
                  <a:pt x="1199119" y="1446900"/>
                </a:lnTo>
                <a:lnTo>
                  <a:pt x="0" y="144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78455" y="1566062"/>
            <a:ext cx="7418659" cy="197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</a:p>
          <a:p>
            <a:pPr algn="l" marL="474962" indent="-237481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Lack of</a:t>
            </a:r>
            <a:r>
              <a:rPr lang="en-US" b="true" sz="219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</a:t>
            </a:r>
            <a:r>
              <a:rPr lang="en-US" sz="2199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real-time water quality </a:t>
            </a: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monitoring in rural pipelines.</a:t>
            </a:r>
          </a:p>
          <a:p>
            <a:pPr algn="l" marL="474962" indent="-237481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</a:t>
            </a:r>
            <a:r>
              <a:rPr lang="en-US" sz="2199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early warning </a:t>
            </a: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mechanism </a:t>
            </a: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 contamination.</a:t>
            </a:r>
          </a:p>
          <a:p>
            <a:pPr algn="l" marL="474962" indent="-237481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Unequal water distribution </a:t>
            </a:r>
            <a:r>
              <a:rPr lang="en-US" sz="2199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across households.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AutoShape 20" id="20"/>
          <p:cNvSpPr/>
          <p:nvPr/>
        </p:nvSpPr>
        <p:spPr>
          <a:xfrm>
            <a:off x="497761" y="1208995"/>
            <a:ext cx="0" cy="2160955"/>
          </a:xfrm>
          <a:prstGeom prst="line">
            <a:avLst/>
          </a:prstGeom>
          <a:ln cap="rnd" w="19050">
            <a:solidFill>
              <a:srgbClr val="635C4C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9556151" y="874364"/>
            <a:ext cx="1117351" cy="1151414"/>
          </a:xfrm>
          <a:custGeom>
            <a:avLst/>
            <a:gdLst/>
            <a:ahLst/>
            <a:cxnLst/>
            <a:rect r="r" b="b" t="t" l="l"/>
            <a:pathLst>
              <a:path h="1151414" w="1117351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50109">
            <a:off x="227215" y="7541840"/>
            <a:ext cx="4147147" cy="2654174"/>
          </a:xfrm>
          <a:custGeom>
            <a:avLst/>
            <a:gdLst/>
            <a:ahLst/>
            <a:cxnLst/>
            <a:rect r="r" b="b" t="t" l="l"/>
            <a:pathLst>
              <a:path h="2654174" w="4147147">
                <a:moveTo>
                  <a:pt x="0" y="0"/>
                </a:moveTo>
                <a:lnTo>
                  <a:pt x="4147147" y="0"/>
                </a:lnTo>
                <a:lnTo>
                  <a:pt x="4147147" y="2654174"/>
                </a:lnTo>
                <a:lnTo>
                  <a:pt x="0" y="2654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77803">
            <a:off x="13295341" y="7539149"/>
            <a:ext cx="4155556" cy="2659556"/>
          </a:xfrm>
          <a:custGeom>
            <a:avLst/>
            <a:gdLst/>
            <a:ahLst/>
            <a:cxnLst/>
            <a:rect r="r" b="b" t="t" l="l"/>
            <a:pathLst>
              <a:path h="2659556" w="4155556">
                <a:moveTo>
                  <a:pt x="0" y="0"/>
                </a:moveTo>
                <a:lnTo>
                  <a:pt x="4155556" y="0"/>
                </a:lnTo>
                <a:lnTo>
                  <a:pt x="4155556" y="2659556"/>
                </a:lnTo>
                <a:lnTo>
                  <a:pt x="0" y="2659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223833">
            <a:off x="9279783" y="7796287"/>
            <a:ext cx="3887675" cy="2488112"/>
          </a:xfrm>
          <a:custGeom>
            <a:avLst/>
            <a:gdLst/>
            <a:ahLst/>
            <a:cxnLst/>
            <a:rect r="r" b="b" t="t" l="l"/>
            <a:pathLst>
              <a:path h="2488112" w="3887675">
                <a:moveTo>
                  <a:pt x="0" y="0"/>
                </a:moveTo>
                <a:lnTo>
                  <a:pt x="3887675" y="0"/>
                </a:lnTo>
                <a:lnTo>
                  <a:pt x="3887675" y="2488113"/>
                </a:lnTo>
                <a:lnTo>
                  <a:pt x="0" y="2488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310514">
            <a:off x="8459843" y="4924378"/>
            <a:ext cx="4303255" cy="2754083"/>
          </a:xfrm>
          <a:custGeom>
            <a:avLst/>
            <a:gdLst/>
            <a:ahLst/>
            <a:cxnLst/>
            <a:rect r="r" b="b" t="t" l="l"/>
            <a:pathLst>
              <a:path h="2754083" w="4303255">
                <a:moveTo>
                  <a:pt x="0" y="0"/>
                </a:moveTo>
                <a:lnTo>
                  <a:pt x="4303255" y="0"/>
                </a:lnTo>
                <a:lnTo>
                  <a:pt x="4303255" y="2754083"/>
                </a:lnTo>
                <a:lnTo>
                  <a:pt x="0" y="275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221176">
            <a:off x="12833031" y="4835266"/>
            <a:ext cx="4225238" cy="2704152"/>
          </a:xfrm>
          <a:custGeom>
            <a:avLst/>
            <a:gdLst/>
            <a:ahLst/>
            <a:cxnLst/>
            <a:rect r="r" b="b" t="t" l="l"/>
            <a:pathLst>
              <a:path h="2704152" w="4225238">
                <a:moveTo>
                  <a:pt x="0" y="0"/>
                </a:moveTo>
                <a:lnTo>
                  <a:pt x="4225238" y="0"/>
                </a:lnTo>
                <a:lnTo>
                  <a:pt x="422523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208109">
            <a:off x="3879244" y="4966745"/>
            <a:ext cx="4330807" cy="2771716"/>
          </a:xfrm>
          <a:custGeom>
            <a:avLst/>
            <a:gdLst/>
            <a:ahLst/>
            <a:cxnLst/>
            <a:rect r="r" b="b" t="t" l="l"/>
            <a:pathLst>
              <a:path h="2771716" w="4330807">
                <a:moveTo>
                  <a:pt x="0" y="0"/>
                </a:moveTo>
                <a:lnTo>
                  <a:pt x="4330806" y="0"/>
                </a:lnTo>
                <a:lnTo>
                  <a:pt x="4330806" y="2771717"/>
                </a:lnTo>
                <a:lnTo>
                  <a:pt x="0" y="2771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86398">
            <a:off x="453149" y="4873662"/>
            <a:ext cx="3662597" cy="2344062"/>
          </a:xfrm>
          <a:custGeom>
            <a:avLst/>
            <a:gdLst/>
            <a:ahLst/>
            <a:cxnLst/>
            <a:rect r="r" b="b" t="t" l="l"/>
            <a:pathLst>
              <a:path h="2344062" w="3662597">
                <a:moveTo>
                  <a:pt x="0" y="0"/>
                </a:moveTo>
                <a:lnTo>
                  <a:pt x="3662597" y="0"/>
                </a:lnTo>
                <a:lnTo>
                  <a:pt x="3662597" y="2344062"/>
                </a:lnTo>
                <a:lnTo>
                  <a:pt x="0" y="234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-7884358">
            <a:off x="12774835" y="7297403"/>
            <a:ext cx="362426" cy="1139053"/>
          </a:xfrm>
          <a:custGeom>
            <a:avLst/>
            <a:gdLst/>
            <a:ahLst/>
            <a:cxnLst/>
            <a:rect r="r" b="b" t="t" l="l"/>
            <a:pathLst>
              <a:path h="1139053" w="362426">
                <a:moveTo>
                  <a:pt x="362426" y="0"/>
                </a:moveTo>
                <a:lnTo>
                  <a:pt x="0" y="0"/>
                </a:lnTo>
                <a:lnTo>
                  <a:pt x="0" y="1139052"/>
                </a:lnTo>
                <a:lnTo>
                  <a:pt x="362426" y="1139052"/>
                </a:lnTo>
                <a:lnTo>
                  <a:pt x="36242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3915066">
            <a:off x="8738255" y="9131113"/>
            <a:ext cx="276802" cy="869949"/>
          </a:xfrm>
          <a:custGeom>
            <a:avLst/>
            <a:gdLst/>
            <a:ahLst/>
            <a:cxnLst/>
            <a:rect r="r" b="b" t="t" l="l"/>
            <a:pathLst>
              <a:path h="869949" w="276802">
                <a:moveTo>
                  <a:pt x="276802" y="869950"/>
                </a:moveTo>
                <a:lnTo>
                  <a:pt x="0" y="869950"/>
                </a:lnTo>
                <a:lnTo>
                  <a:pt x="0" y="0"/>
                </a:lnTo>
                <a:lnTo>
                  <a:pt x="276802" y="0"/>
                </a:lnTo>
                <a:lnTo>
                  <a:pt x="276802" y="8699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9098149">
            <a:off x="6550116" y="7549901"/>
            <a:ext cx="448198" cy="1408623"/>
          </a:xfrm>
          <a:custGeom>
            <a:avLst/>
            <a:gdLst/>
            <a:ahLst/>
            <a:cxnLst/>
            <a:rect r="r" b="b" t="t" l="l"/>
            <a:pathLst>
              <a:path h="1408623" w="448198">
                <a:moveTo>
                  <a:pt x="448198" y="0"/>
                </a:moveTo>
                <a:lnTo>
                  <a:pt x="0" y="0"/>
                </a:lnTo>
                <a:lnTo>
                  <a:pt x="0" y="1408624"/>
                </a:lnTo>
                <a:lnTo>
                  <a:pt x="448198" y="1408624"/>
                </a:lnTo>
                <a:lnTo>
                  <a:pt x="4481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6440981">
            <a:off x="8817651" y="8218822"/>
            <a:ext cx="360430" cy="1132780"/>
          </a:xfrm>
          <a:custGeom>
            <a:avLst/>
            <a:gdLst/>
            <a:ahLst/>
            <a:cxnLst/>
            <a:rect r="r" b="b" t="t" l="l"/>
            <a:pathLst>
              <a:path h="1132780" w="360430">
                <a:moveTo>
                  <a:pt x="0" y="0"/>
                </a:moveTo>
                <a:lnTo>
                  <a:pt x="360429" y="0"/>
                </a:lnTo>
                <a:lnTo>
                  <a:pt x="360429" y="1132780"/>
                </a:lnTo>
                <a:lnTo>
                  <a:pt x="0" y="1132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6442975">
            <a:off x="5325351" y="8717400"/>
            <a:ext cx="448319" cy="1409001"/>
          </a:xfrm>
          <a:custGeom>
            <a:avLst/>
            <a:gdLst/>
            <a:ahLst/>
            <a:cxnLst/>
            <a:rect r="r" b="b" t="t" l="l"/>
            <a:pathLst>
              <a:path h="1409001" w="448319">
                <a:moveTo>
                  <a:pt x="448319" y="0"/>
                </a:moveTo>
                <a:lnTo>
                  <a:pt x="0" y="0"/>
                </a:lnTo>
                <a:lnTo>
                  <a:pt x="0" y="1409002"/>
                </a:lnTo>
                <a:lnTo>
                  <a:pt x="448319" y="1409002"/>
                </a:lnTo>
                <a:lnTo>
                  <a:pt x="44831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7678699">
            <a:off x="5442115" y="7928246"/>
            <a:ext cx="501279" cy="1575449"/>
          </a:xfrm>
          <a:custGeom>
            <a:avLst/>
            <a:gdLst/>
            <a:ahLst/>
            <a:cxnLst/>
            <a:rect r="r" b="b" t="t" l="l"/>
            <a:pathLst>
              <a:path h="1575449" w="501279">
                <a:moveTo>
                  <a:pt x="501279" y="0"/>
                </a:moveTo>
                <a:lnTo>
                  <a:pt x="0" y="0"/>
                </a:lnTo>
                <a:lnTo>
                  <a:pt x="0" y="1575449"/>
                </a:lnTo>
                <a:lnTo>
                  <a:pt x="501279" y="1575449"/>
                </a:lnTo>
                <a:lnTo>
                  <a:pt x="5012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8991767">
            <a:off x="8184278" y="7344672"/>
            <a:ext cx="438453" cy="1377995"/>
          </a:xfrm>
          <a:custGeom>
            <a:avLst/>
            <a:gdLst/>
            <a:ahLst/>
            <a:cxnLst/>
            <a:rect r="r" b="b" t="t" l="l"/>
            <a:pathLst>
              <a:path h="1377995" w="438453">
                <a:moveTo>
                  <a:pt x="0" y="0"/>
                </a:moveTo>
                <a:lnTo>
                  <a:pt x="438453" y="0"/>
                </a:lnTo>
                <a:lnTo>
                  <a:pt x="438453" y="1377994"/>
                </a:lnTo>
                <a:lnTo>
                  <a:pt x="0" y="13779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087608" y="8800541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766167" y="8699487"/>
            <a:ext cx="291490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Transmit data wirelessly to a centralized monitoring platform.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10216" y="-95700"/>
            <a:ext cx="336042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12000" spc="-84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Ideate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11471" y="3863517"/>
            <a:ext cx="6817607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</a:t>
            </a: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ncept Sketches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13594" y="3863517"/>
            <a:ext cx="10833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Fin</a:t>
            </a: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al Idea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31581" y="3863517"/>
            <a:ext cx="117848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635C4C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Feedback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95819" y="3853131"/>
            <a:ext cx="1234083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Brainstorm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9934" y="3863517"/>
            <a:ext cx="247253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4D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Challenges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12481" y="2313859"/>
            <a:ext cx="10023478" cy="46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Used feedback for </a:t>
            </a:r>
            <a:r>
              <a:rPr lang="en-US" sz="2373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iterative refinement</a:t>
            </a:r>
            <a:r>
              <a:rPr lang="en-US" sz="2373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and </a:t>
            </a:r>
            <a:r>
              <a:rPr lang="en-US" sz="2373">
                <a:solidFill>
                  <a:srgbClr val="ED282B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proactive problem solving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63408" y="8456295"/>
            <a:ext cx="2613945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Provide a dashboard or simple mobile/SMS notifications for authorities.</a:t>
            </a:r>
          </a:p>
        </p:txBody>
      </p:sp>
      <p:sp>
        <p:nvSpPr>
          <p:cNvPr name="TextBox 46" id="46"/>
          <p:cNvSpPr txBox="true"/>
          <p:nvPr/>
        </p:nvSpPr>
        <p:spPr>
          <a:xfrm rot="-752443">
            <a:off x="900045" y="8594597"/>
            <a:ext cx="3100216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Track flow and pressure data to identify unequal distribution and leakages.</a:t>
            </a:r>
          </a:p>
        </p:txBody>
      </p:sp>
      <p:sp>
        <p:nvSpPr>
          <p:cNvPr name="TextBox 47" id="47"/>
          <p:cNvSpPr txBox="true"/>
          <p:nvPr/>
        </p:nvSpPr>
        <p:spPr>
          <a:xfrm rot="-478072">
            <a:off x="912913" y="5551304"/>
            <a:ext cx="2397014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Generate real-time alerts for contamination events.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03069" y="5960125"/>
            <a:ext cx="2771718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Use solar-powered IoT devices for autonomous operation.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09657" y="5727844"/>
            <a:ext cx="2771718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Monitor parameters such as turbidity, pH, residual chlorine, and flow rate.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6835" y="5809454"/>
            <a:ext cx="2771718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Deploy low-cost water quality sensor nodes at source, storage tanks, and distribution points.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C2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3301" y="74457"/>
            <a:ext cx="4641397" cy="127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3"/>
              </a:lnSpc>
              <a:spcBef>
                <a:spcPct val="0"/>
              </a:spcBef>
            </a:pPr>
            <a:r>
              <a:rPr lang="en-US" b="true" sz="6666">
                <a:solidFill>
                  <a:srgbClr val="635C4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62747"/>
            <a:ext cx="17900913" cy="8424253"/>
            <a:chOff x="0" y="0"/>
            <a:chExt cx="23867884" cy="11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32614" y="0"/>
              <a:ext cx="20005487" cy="11232337"/>
            </a:xfrm>
            <a:custGeom>
              <a:avLst/>
              <a:gdLst/>
              <a:ahLst/>
              <a:cxnLst/>
              <a:rect r="r" b="b" t="t" l="l"/>
              <a:pathLst>
                <a:path h="11232337" w="20005487">
                  <a:moveTo>
                    <a:pt x="0" y="0"/>
                  </a:moveTo>
                  <a:lnTo>
                    <a:pt x="20005487" y="0"/>
                  </a:lnTo>
                  <a:lnTo>
                    <a:pt x="20005487" y="11232337"/>
                  </a:lnTo>
                  <a:lnTo>
                    <a:pt x="0" y="11232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77" t="0" r="-2158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5272176" y="2047636"/>
              <a:ext cx="4078323" cy="3568533"/>
              <a:chOff x="0" y="0"/>
              <a:chExt cx="812800" cy="711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812800" cy="577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GATEWAY NODE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10800000">
              <a:off x="8844380" y="6732520"/>
              <a:ext cx="2316727" cy="2027137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701875" y="4072579"/>
              <a:ext cx="2252709" cy="1971120"/>
              <a:chOff x="0" y="0"/>
              <a:chExt cx="812800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10800000">
              <a:off x="12701875" y="8013097"/>
              <a:ext cx="2326531" cy="2035715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7650838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25485" y="4453195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62397" y="8935704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1F1F1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BE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81" y="502981"/>
            <a:ext cx="3773885" cy="9371099"/>
          </a:xfrm>
          <a:custGeom>
            <a:avLst/>
            <a:gdLst/>
            <a:ahLst/>
            <a:cxnLst/>
            <a:rect r="r" b="b" t="t" l="l"/>
            <a:pathLst>
              <a:path h="9371099" w="3773885">
                <a:moveTo>
                  <a:pt x="0" y="0"/>
                </a:moveTo>
                <a:lnTo>
                  <a:pt x="3773885" y="0"/>
                </a:lnTo>
                <a:lnTo>
                  <a:pt x="3773885" y="9371099"/>
                </a:lnTo>
                <a:lnTo>
                  <a:pt x="0" y="9371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69" r="-32549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0215" y="3201433"/>
            <a:ext cx="1501236" cy="1572252"/>
            <a:chOff x="0" y="0"/>
            <a:chExt cx="395387" cy="414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387" cy="414091"/>
            </a:xfrm>
            <a:custGeom>
              <a:avLst/>
              <a:gdLst/>
              <a:ahLst/>
              <a:cxnLst/>
              <a:rect r="r" b="b" t="t" l="l"/>
              <a:pathLst>
                <a:path h="414091" w="395387">
                  <a:moveTo>
                    <a:pt x="0" y="0"/>
                  </a:moveTo>
                  <a:lnTo>
                    <a:pt x="395387" y="0"/>
                  </a:lnTo>
                  <a:lnTo>
                    <a:pt x="395387" y="414091"/>
                  </a:lnTo>
                  <a:lnTo>
                    <a:pt x="0" y="414091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95387" cy="49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66491" y="3295881"/>
            <a:ext cx="1548685" cy="1498001"/>
          </a:xfrm>
          <a:custGeom>
            <a:avLst/>
            <a:gdLst/>
            <a:ahLst/>
            <a:cxnLst/>
            <a:rect r="r" b="b" t="t" l="l"/>
            <a:pathLst>
              <a:path h="1498001" w="1548685">
                <a:moveTo>
                  <a:pt x="0" y="0"/>
                </a:moveTo>
                <a:lnTo>
                  <a:pt x="1548685" y="0"/>
                </a:lnTo>
                <a:lnTo>
                  <a:pt x="1548685" y="1498001"/>
                </a:lnTo>
                <a:lnTo>
                  <a:pt x="0" y="1498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4481" y="4472907"/>
            <a:ext cx="1341186" cy="13411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Water Source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(river)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64050" y="274381"/>
            <a:ext cx="8359900" cy="110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8"/>
              </a:lnSpc>
              <a:spcBef>
                <a:spcPct val="0"/>
              </a:spcBef>
            </a:pPr>
            <a:r>
              <a:rPr lang="en-US" b="true" sz="5806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PROPOSED SOLUTION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61139" y="4688448"/>
            <a:ext cx="1018265" cy="481361"/>
          </a:xfrm>
          <a:custGeom>
            <a:avLst/>
            <a:gdLst/>
            <a:ahLst/>
            <a:cxnLst/>
            <a:rect r="r" b="b" t="t" l="l"/>
            <a:pathLst>
              <a:path h="481361" w="1018265">
                <a:moveTo>
                  <a:pt x="0" y="0"/>
                </a:moveTo>
                <a:lnTo>
                  <a:pt x="1018264" y="0"/>
                </a:lnTo>
                <a:lnTo>
                  <a:pt x="1018264" y="481361"/>
                </a:lnTo>
                <a:lnTo>
                  <a:pt x="0" y="48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0768" y="6972582"/>
            <a:ext cx="701220" cy="331486"/>
          </a:xfrm>
          <a:custGeom>
            <a:avLst/>
            <a:gdLst/>
            <a:ahLst/>
            <a:cxnLst/>
            <a:rect r="r" b="b" t="t" l="l"/>
            <a:pathLst>
              <a:path h="331486" w="701220">
                <a:moveTo>
                  <a:pt x="0" y="0"/>
                </a:moveTo>
                <a:lnTo>
                  <a:pt x="701220" y="0"/>
                </a:lnTo>
                <a:lnTo>
                  <a:pt x="701220" y="331486"/>
                </a:lnTo>
                <a:lnTo>
                  <a:pt x="0" y="331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80150" y="4662139"/>
            <a:ext cx="715479" cy="338227"/>
          </a:xfrm>
          <a:custGeom>
            <a:avLst/>
            <a:gdLst/>
            <a:ahLst/>
            <a:cxnLst/>
            <a:rect r="r" b="b" t="t" l="l"/>
            <a:pathLst>
              <a:path h="338227" w="715479">
                <a:moveTo>
                  <a:pt x="0" y="0"/>
                </a:moveTo>
                <a:lnTo>
                  <a:pt x="715479" y="0"/>
                </a:lnTo>
                <a:lnTo>
                  <a:pt x="715479" y="338226"/>
                </a:lnTo>
                <a:lnTo>
                  <a:pt x="0" y="338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30463" y="6972582"/>
            <a:ext cx="789665" cy="373296"/>
          </a:xfrm>
          <a:custGeom>
            <a:avLst/>
            <a:gdLst/>
            <a:ahLst/>
            <a:cxnLst/>
            <a:rect r="r" b="b" t="t" l="l"/>
            <a:pathLst>
              <a:path h="373296" w="789665">
                <a:moveTo>
                  <a:pt x="0" y="0"/>
                </a:moveTo>
                <a:lnTo>
                  <a:pt x="789664" y="0"/>
                </a:lnTo>
                <a:lnTo>
                  <a:pt x="789664" y="373296"/>
                </a:lnTo>
                <a:lnTo>
                  <a:pt x="0" y="373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31988" y="2560744"/>
            <a:ext cx="6327077" cy="5017087"/>
            <a:chOff x="0" y="0"/>
            <a:chExt cx="1394730" cy="1105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730" cy="1105958"/>
            </a:xfrm>
            <a:custGeom>
              <a:avLst/>
              <a:gdLst/>
              <a:ahLst/>
              <a:cxnLst/>
              <a:rect r="r" b="b" t="t" l="l"/>
              <a:pathLst>
                <a:path h="1105958" w="1394730">
                  <a:moveTo>
                    <a:pt x="20801" y="0"/>
                  </a:moveTo>
                  <a:lnTo>
                    <a:pt x="1373929" y="0"/>
                  </a:lnTo>
                  <a:cubicBezTo>
                    <a:pt x="1385417" y="0"/>
                    <a:pt x="1394730" y="9313"/>
                    <a:pt x="1394730" y="20801"/>
                  </a:cubicBezTo>
                  <a:lnTo>
                    <a:pt x="1394730" y="1085157"/>
                  </a:lnTo>
                  <a:cubicBezTo>
                    <a:pt x="1394730" y="1096645"/>
                    <a:pt x="1385417" y="1105958"/>
                    <a:pt x="1373929" y="1105958"/>
                  </a:cubicBezTo>
                  <a:lnTo>
                    <a:pt x="20801" y="1105958"/>
                  </a:lnTo>
                  <a:cubicBezTo>
                    <a:pt x="9313" y="1105958"/>
                    <a:pt x="0" y="1096645"/>
                    <a:pt x="0" y="1085157"/>
                  </a:cubicBezTo>
                  <a:lnTo>
                    <a:pt x="0" y="20801"/>
                  </a:lnTo>
                  <a:cubicBezTo>
                    <a:pt x="0" y="9313"/>
                    <a:pt x="9313" y="0"/>
                    <a:pt x="20801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730" cy="1191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859" y="6213536"/>
            <a:ext cx="3599537" cy="3489515"/>
            <a:chOff x="0" y="0"/>
            <a:chExt cx="948026" cy="919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8026" cy="919049"/>
            </a:xfrm>
            <a:custGeom>
              <a:avLst/>
              <a:gdLst/>
              <a:ahLst/>
              <a:cxnLst/>
              <a:rect r="r" b="b" t="t" l="l"/>
              <a:pathLst>
                <a:path h="919049" w="948026">
                  <a:moveTo>
                    <a:pt x="36564" y="0"/>
                  </a:moveTo>
                  <a:lnTo>
                    <a:pt x="911463" y="0"/>
                  </a:lnTo>
                  <a:cubicBezTo>
                    <a:pt x="921160" y="0"/>
                    <a:pt x="930460" y="3852"/>
                    <a:pt x="937317" y="10709"/>
                  </a:cubicBezTo>
                  <a:cubicBezTo>
                    <a:pt x="944174" y="17566"/>
                    <a:pt x="948026" y="26866"/>
                    <a:pt x="948026" y="36564"/>
                  </a:cubicBezTo>
                  <a:lnTo>
                    <a:pt x="948026" y="882485"/>
                  </a:lnTo>
                  <a:cubicBezTo>
                    <a:pt x="948026" y="892183"/>
                    <a:pt x="944174" y="901483"/>
                    <a:pt x="937317" y="908340"/>
                  </a:cubicBezTo>
                  <a:cubicBezTo>
                    <a:pt x="930460" y="915197"/>
                    <a:pt x="921160" y="919049"/>
                    <a:pt x="911463" y="919049"/>
                  </a:cubicBezTo>
                  <a:lnTo>
                    <a:pt x="36564" y="919049"/>
                  </a:lnTo>
                  <a:cubicBezTo>
                    <a:pt x="16370" y="919049"/>
                    <a:pt x="0" y="902679"/>
                    <a:pt x="0" y="882485"/>
                  </a:cubicBezTo>
                  <a:lnTo>
                    <a:pt x="0" y="36564"/>
                  </a:lnTo>
                  <a:cubicBezTo>
                    <a:pt x="0" y="26866"/>
                    <a:pt x="3852" y="17566"/>
                    <a:pt x="10709" y="10709"/>
                  </a:cubicBezTo>
                  <a:cubicBezTo>
                    <a:pt x="17566" y="3852"/>
                    <a:pt x="26866" y="0"/>
                    <a:pt x="36564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48026" cy="100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72468" y="323369"/>
            <a:ext cx="3086100" cy="2845158"/>
            <a:chOff x="0" y="0"/>
            <a:chExt cx="812800" cy="7493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49342"/>
            </a:xfrm>
            <a:custGeom>
              <a:avLst/>
              <a:gdLst/>
              <a:ahLst/>
              <a:cxnLst/>
              <a:rect r="r" b="b" t="t" l="l"/>
              <a:pathLst>
                <a:path h="7493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06695"/>
                  </a:lnTo>
                  <a:cubicBezTo>
                    <a:pt x="812800" y="718006"/>
                    <a:pt x="808307" y="728853"/>
                    <a:pt x="800309" y="736851"/>
                  </a:cubicBezTo>
                  <a:cubicBezTo>
                    <a:pt x="792311" y="744849"/>
                    <a:pt x="781464" y="749342"/>
                    <a:pt x="770153" y="749342"/>
                  </a:cubicBezTo>
                  <a:lnTo>
                    <a:pt x="42647" y="749342"/>
                  </a:lnTo>
                  <a:cubicBezTo>
                    <a:pt x="19094" y="749342"/>
                    <a:pt x="0" y="730248"/>
                    <a:pt x="0" y="7066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12800" cy="835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00397" y="3368379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812800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4939" y="4220913"/>
            <a:ext cx="3570383" cy="961136"/>
            <a:chOff x="0" y="0"/>
            <a:chExt cx="940348" cy="2531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348" cy="253139"/>
            </a:xfrm>
            <a:custGeom>
              <a:avLst/>
              <a:gdLst/>
              <a:ahLst/>
              <a:cxnLst/>
              <a:rect r="r" b="b" t="t" l="l"/>
              <a:pathLst>
                <a:path h="253139" w="940348">
                  <a:moveTo>
                    <a:pt x="36862" y="0"/>
                  </a:moveTo>
                  <a:lnTo>
                    <a:pt x="903486" y="0"/>
                  </a:lnTo>
                  <a:cubicBezTo>
                    <a:pt x="913262" y="0"/>
                    <a:pt x="922638" y="3884"/>
                    <a:pt x="929551" y="10797"/>
                  </a:cubicBezTo>
                  <a:cubicBezTo>
                    <a:pt x="936464" y="17710"/>
                    <a:pt x="940348" y="27086"/>
                    <a:pt x="940348" y="36862"/>
                  </a:cubicBezTo>
                  <a:lnTo>
                    <a:pt x="940348" y="216276"/>
                  </a:lnTo>
                  <a:cubicBezTo>
                    <a:pt x="940348" y="236635"/>
                    <a:pt x="923844" y="253139"/>
                    <a:pt x="903486" y="253139"/>
                  </a:cubicBezTo>
                  <a:lnTo>
                    <a:pt x="36862" y="253139"/>
                  </a:lnTo>
                  <a:cubicBezTo>
                    <a:pt x="27086" y="253139"/>
                    <a:pt x="17710" y="249255"/>
                    <a:pt x="10797" y="242342"/>
                  </a:cubicBezTo>
                  <a:cubicBezTo>
                    <a:pt x="3884" y="235429"/>
                    <a:pt x="0" y="226053"/>
                    <a:pt x="0" y="216276"/>
                  </a:cubicBezTo>
                  <a:lnTo>
                    <a:pt x="0" y="36862"/>
                  </a:lnTo>
                  <a:cubicBezTo>
                    <a:pt x="0" y="27086"/>
                    <a:pt x="3884" y="17710"/>
                    <a:pt x="10797" y="10797"/>
                  </a:cubicBezTo>
                  <a:cubicBezTo>
                    <a:pt x="17710" y="3884"/>
                    <a:pt x="27086" y="0"/>
                    <a:pt x="36862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940348" cy="338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20127" y="6730704"/>
            <a:ext cx="4599807" cy="3232928"/>
            <a:chOff x="0" y="0"/>
            <a:chExt cx="1301760" cy="9149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760" cy="914929"/>
            </a:xfrm>
            <a:custGeom>
              <a:avLst/>
              <a:gdLst/>
              <a:ahLst/>
              <a:cxnLst/>
              <a:rect r="r" b="b" t="t" l="l"/>
              <a:pathLst>
                <a:path h="914929" w="1301760">
                  <a:moveTo>
                    <a:pt x="28613" y="0"/>
                  </a:moveTo>
                  <a:lnTo>
                    <a:pt x="1273147" y="0"/>
                  </a:lnTo>
                  <a:cubicBezTo>
                    <a:pt x="1280736" y="0"/>
                    <a:pt x="1288014" y="3015"/>
                    <a:pt x="1293379" y="8380"/>
                  </a:cubicBezTo>
                  <a:cubicBezTo>
                    <a:pt x="1298745" y="13746"/>
                    <a:pt x="1301760" y="21024"/>
                    <a:pt x="1301760" y="28613"/>
                  </a:cubicBezTo>
                  <a:lnTo>
                    <a:pt x="1301760" y="886316"/>
                  </a:lnTo>
                  <a:cubicBezTo>
                    <a:pt x="1301760" y="893905"/>
                    <a:pt x="1298745" y="901182"/>
                    <a:pt x="1293379" y="906548"/>
                  </a:cubicBezTo>
                  <a:cubicBezTo>
                    <a:pt x="1288014" y="911914"/>
                    <a:pt x="1280736" y="914929"/>
                    <a:pt x="1273147" y="914929"/>
                  </a:cubicBezTo>
                  <a:lnTo>
                    <a:pt x="28613" y="914929"/>
                  </a:lnTo>
                  <a:cubicBezTo>
                    <a:pt x="21024" y="914929"/>
                    <a:pt x="13746" y="911914"/>
                    <a:pt x="8380" y="906548"/>
                  </a:cubicBezTo>
                  <a:cubicBezTo>
                    <a:pt x="3015" y="901182"/>
                    <a:pt x="0" y="893905"/>
                    <a:pt x="0" y="886316"/>
                  </a:cubicBezTo>
                  <a:lnTo>
                    <a:pt x="0" y="28613"/>
                  </a:lnTo>
                  <a:cubicBezTo>
                    <a:pt x="0" y="21024"/>
                    <a:pt x="3015" y="13746"/>
                    <a:pt x="8380" y="8380"/>
                  </a:cubicBezTo>
                  <a:cubicBezTo>
                    <a:pt x="13746" y="3015"/>
                    <a:pt x="21024" y="0"/>
                    <a:pt x="28613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301760" cy="100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7701" y="2518837"/>
            <a:ext cx="3201324" cy="885882"/>
            <a:chOff x="0" y="0"/>
            <a:chExt cx="843147" cy="2333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1112" y="0"/>
                  </a:moveTo>
                  <a:lnTo>
                    <a:pt x="802035" y="0"/>
                  </a:lnTo>
                  <a:cubicBezTo>
                    <a:pt x="812939" y="0"/>
                    <a:pt x="823396" y="4331"/>
                    <a:pt x="831106" y="12041"/>
                  </a:cubicBezTo>
                  <a:cubicBezTo>
                    <a:pt x="838816" y="19751"/>
                    <a:pt x="843147" y="30208"/>
                    <a:pt x="843147" y="41112"/>
                  </a:cubicBezTo>
                  <a:lnTo>
                    <a:pt x="843147" y="192207"/>
                  </a:lnTo>
                  <a:cubicBezTo>
                    <a:pt x="843147" y="214912"/>
                    <a:pt x="824741" y="233319"/>
                    <a:pt x="802035" y="233319"/>
                  </a:cubicBezTo>
                  <a:lnTo>
                    <a:pt x="41112" y="233319"/>
                  </a:lnTo>
                  <a:cubicBezTo>
                    <a:pt x="18406" y="233319"/>
                    <a:pt x="0" y="214912"/>
                    <a:pt x="0" y="192207"/>
                  </a:cubicBezTo>
                  <a:lnTo>
                    <a:pt x="0" y="41112"/>
                  </a:lnTo>
                  <a:cubicBezTo>
                    <a:pt x="0" y="18406"/>
                    <a:pt x="18406" y="0"/>
                    <a:pt x="41112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7" id="27">
            <a:hlinkClick r:id="rId5" action="ppaction://hlinksldjump"/>
          </p:cNvPr>
          <p:cNvSpPr/>
          <p:nvPr/>
        </p:nvSpPr>
        <p:spPr>
          <a:xfrm flipH="false" flipV="false" rot="5400000">
            <a:off x="6804341" y="2491708"/>
            <a:ext cx="3509671" cy="5556275"/>
          </a:xfrm>
          <a:custGeom>
            <a:avLst/>
            <a:gdLst/>
            <a:ahLst/>
            <a:cxnLst/>
            <a:rect r="r" b="b" t="t" l="l"/>
            <a:pathLst>
              <a:path h="5556275" w="3509671">
                <a:moveTo>
                  <a:pt x="0" y="0"/>
                </a:moveTo>
                <a:lnTo>
                  <a:pt x="3509671" y="0"/>
                </a:lnTo>
                <a:lnTo>
                  <a:pt x="3509671" y="5556275"/>
                </a:lnTo>
                <a:lnTo>
                  <a:pt x="0" y="555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30569" y="3970230"/>
            <a:ext cx="2425756" cy="2243306"/>
          </a:xfrm>
          <a:custGeom>
            <a:avLst/>
            <a:gdLst/>
            <a:ahLst/>
            <a:cxnLst/>
            <a:rect r="r" b="b" t="t" l="l"/>
            <a:pathLst>
              <a:path h="2243306" w="2425756">
                <a:moveTo>
                  <a:pt x="0" y="0"/>
                </a:moveTo>
                <a:lnTo>
                  <a:pt x="2425756" y="0"/>
                </a:lnTo>
                <a:lnTo>
                  <a:pt x="2425756" y="2243306"/>
                </a:lnTo>
                <a:lnTo>
                  <a:pt x="0" y="2243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59933" y="6938753"/>
            <a:ext cx="3135390" cy="2534715"/>
          </a:xfrm>
          <a:custGeom>
            <a:avLst/>
            <a:gdLst/>
            <a:ahLst/>
            <a:cxnLst/>
            <a:rect r="r" b="b" t="t" l="l"/>
            <a:pathLst>
              <a:path h="2534715" w="3135390">
                <a:moveTo>
                  <a:pt x="0" y="0"/>
                </a:moveTo>
                <a:lnTo>
                  <a:pt x="3135389" y="0"/>
                </a:lnTo>
                <a:lnTo>
                  <a:pt x="3135389" y="2534715"/>
                </a:lnTo>
                <a:lnTo>
                  <a:pt x="0" y="2534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3560382" y="6554188"/>
            <a:ext cx="2319297" cy="3911289"/>
          </a:xfrm>
          <a:custGeom>
            <a:avLst/>
            <a:gdLst/>
            <a:ahLst/>
            <a:cxnLst/>
            <a:rect r="r" b="b" t="t" l="l"/>
            <a:pathLst>
              <a:path h="3911289" w="2319297">
                <a:moveTo>
                  <a:pt x="0" y="0"/>
                </a:moveTo>
                <a:lnTo>
                  <a:pt x="2319298" y="0"/>
                </a:lnTo>
                <a:lnTo>
                  <a:pt x="2319298" y="3911288"/>
                </a:lnTo>
                <a:lnTo>
                  <a:pt x="0" y="39112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33610" y="1025883"/>
            <a:ext cx="2563816" cy="1860834"/>
          </a:xfrm>
          <a:custGeom>
            <a:avLst/>
            <a:gdLst/>
            <a:ahLst/>
            <a:cxnLst/>
            <a:rect r="r" b="b" t="t" l="l"/>
            <a:pathLst>
              <a:path h="1860834" w="2563816">
                <a:moveTo>
                  <a:pt x="0" y="0"/>
                </a:moveTo>
                <a:lnTo>
                  <a:pt x="2563816" y="0"/>
                </a:lnTo>
                <a:lnTo>
                  <a:pt x="2563816" y="1860834"/>
                </a:lnTo>
                <a:lnTo>
                  <a:pt x="0" y="1860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4776063" y="7487755"/>
            <a:ext cx="910746" cy="808080"/>
          </a:xfrm>
          <a:custGeom>
            <a:avLst/>
            <a:gdLst/>
            <a:ahLst/>
            <a:cxnLst/>
            <a:rect r="r" b="b" t="t" l="l"/>
            <a:pathLst>
              <a:path h="808080" w="910746">
                <a:moveTo>
                  <a:pt x="0" y="0"/>
                </a:moveTo>
                <a:lnTo>
                  <a:pt x="910746" y="0"/>
                </a:lnTo>
                <a:lnTo>
                  <a:pt x="910746" y="808080"/>
                </a:lnTo>
                <a:lnTo>
                  <a:pt x="0" y="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4768891" y="8493983"/>
            <a:ext cx="1037989" cy="920979"/>
          </a:xfrm>
          <a:custGeom>
            <a:avLst/>
            <a:gdLst/>
            <a:ahLst/>
            <a:cxnLst/>
            <a:rect r="r" b="b" t="t" l="l"/>
            <a:pathLst>
              <a:path h="920979" w="1037989">
                <a:moveTo>
                  <a:pt x="0" y="0"/>
                </a:moveTo>
                <a:lnTo>
                  <a:pt x="1037989" y="0"/>
                </a:lnTo>
                <a:lnTo>
                  <a:pt x="1037989" y="920980"/>
                </a:lnTo>
                <a:lnTo>
                  <a:pt x="0" y="920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339024" y="2734130"/>
            <a:ext cx="1018265" cy="481361"/>
          </a:xfrm>
          <a:custGeom>
            <a:avLst/>
            <a:gdLst/>
            <a:ahLst/>
            <a:cxnLst/>
            <a:rect r="r" b="b" t="t" l="l"/>
            <a:pathLst>
              <a:path h="481361" w="1018265">
                <a:moveTo>
                  <a:pt x="0" y="0"/>
                </a:moveTo>
                <a:lnTo>
                  <a:pt x="1018265" y="0"/>
                </a:lnTo>
                <a:lnTo>
                  <a:pt x="1018265" y="481362"/>
                </a:lnTo>
                <a:lnTo>
                  <a:pt x="0" y="481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595322" y="4546647"/>
            <a:ext cx="836666" cy="395515"/>
          </a:xfrm>
          <a:custGeom>
            <a:avLst/>
            <a:gdLst/>
            <a:ahLst/>
            <a:cxnLst/>
            <a:rect r="r" b="b" t="t" l="l"/>
            <a:pathLst>
              <a:path h="395515" w="836666">
                <a:moveTo>
                  <a:pt x="0" y="0"/>
                </a:moveTo>
                <a:lnTo>
                  <a:pt x="836666" y="0"/>
                </a:lnTo>
                <a:lnTo>
                  <a:pt x="836666" y="395515"/>
                </a:lnTo>
                <a:lnTo>
                  <a:pt x="0" y="39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2310861" y="3588954"/>
            <a:ext cx="836666" cy="395515"/>
          </a:xfrm>
          <a:custGeom>
            <a:avLst/>
            <a:gdLst/>
            <a:ahLst/>
            <a:cxnLst/>
            <a:rect r="r" b="b" t="t" l="l"/>
            <a:pathLst>
              <a:path h="395515" w="836666">
                <a:moveTo>
                  <a:pt x="0" y="0"/>
                </a:moveTo>
                <a:lnTo>
                  <a:pt x="836666" y="0"/>
                </a:lnTo>
                <a:lnTo>
                  <a:pt x="836666" y="395515"/>
                </a:lnTo>
                <a:lnTo>
                  <a:pt x="0" y="39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759065" y="2645849"/>
            <a:ext cx="1018265" cy="481361"/>
          </a:xfrm>
          <a:custGeom>
            <a:avLst/>
            <a:gdLst/>
            <a:ahLst/>
            <a:cxnLst/>
            <a:rect r="r" b="b" t="t" l="l"/>
            <a:pathLst>
              <a:path h="481361" w="1018265">
                <a:moveTo>
                  <a:pt x="0" y="0"/>
                </a:moveTo>
                <a:lnTo>
                  <a:pt x="1018264" y="0"/>
                </a:lnTo>
                <a:lnTo>
                  <a:pt x="1018264" y="481362"/>
                </a:lnTo>
                <a:lnTo>
                  <a:pt x="0" y="481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6070236" y="3444579"/>
            <a:ext cx="1862721" cy="2933700"/>
            <a:chOff x="0" y="0"/>
            <a:chExt cx="490593" cy="7726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0593" cy="772662"/>
            </a:xfrm>
            <a:custGeom>
              <a:avLst/>
              <a:gdLst/>
              <a:ahLst/>
              <a:cxnLst/>
              <a:rect r="r" b="b" t="t" l="l"/>
              <a:pathLst>
                <a:path h="772662" w="490593">
                  <a:moveTo>
                    <a:pt x="70656" y="0"/>
                  </a:moveTo>
                  <a:lnTo>
                    <a:pt x="419937" y="0"/>
                  </a:lnTo>
                  <a:cubicBezTo>
                    <a:pt x="458959" y="0"/>
                    <a:pt x="490593" y="31634"/>
                    <a:pt x="490593" y="70656"/>
                  </a:cubicBezTo>
                  <a:lnTo>
                    <a:pt x="490593" y="702006"/>
                  </a:lnTo>
                  <a:cubicBezTo>
                    <a:pt x="490593" y="741028"/>
                    <a:pt x="458959" y="772662"/>
                    <a:pt x="419937" y="772662"/>
                  </a:cubicBezTo>
                  <a:lnTo>
                    <a:pt x="70656" y="772662"/>
                  </a:lnTo>
                  <a:cubicBezTo>
                    <a:pt x="31634" y="772662"/>
                    <a:pt x="0" y="741028"/>
                    <a:pt x="0" y="702006"/>
                  </a:cubicBezTo>
                  <a:lnTo>
                    <a:pt x="0" y="70656"/>
                  </a:lnTo>
                  <a:cubicBezTo>
                    <a:pt x="0" y="31634"/>
                    <a:pt x="31634" y="0"/>
                    <a:pt x="7065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490593" cy="858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6058568" y="3673639"/>
            <a:ext cx="1867182" cy="2475579"/>
          </a:xfrm>
          <a:custGeom>
            <a:avLst/>
            <a:gdLst/>
            <a:ahLst/>
            <a:cxnLst/>
            <a:rect r="r" b="b" t="t" l="l"/>
            <a:pathLst>
              <a:path h="2475579" w="1867182">
                <a:moveTo>
                  <a:pt x="0" y="0"/>
                </a:moveTo>
                <a:lnTo>
                  <a:pt x="1867182" y="0"/>
                </a:lnTo>
                <a:lnTo>
                  <a:pt x="1867182" y="2475579"/>
                </a:lnTo>
                <a:lnTo>
                  <a:pt x="0" y="2475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398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582234" y="4504830"/>
            <a:ext cx="943585" cy="813198"/>
          </a:xfrm>
          <a:custGeom>
            <a:avLst/>
            <a:gdLst/>
            <a:ahLst/>
            <a:cxnLst/>
            <a:rect r="r" b="b" t="t" l="l"/>
            <a:pathLst>
              <a:path h="813198" w="943585">
                <a:moveTo>
                  <a:pt x="0" y="0"/>
                </a:moveTo>
                <a:lnTo>
                  <a:pt x="943585" y="0"/>
                </a:lnTo>
                <a:lnTo>
                  <a:pt x="943585" y="813198"/>
                </a:lnTo>
                <a:lnTo>
                  <a:pt x="0" y="8131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 flipV="true">
            <a:off x="700912" y="2233087"/>
            <a:ext cx="41822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699055" y="1443967"/>
            <a:ext cx="0" cy="7891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>
            <a:hlinkClick r:id="rId17" action="ppaction://hlinksldjump"/>
          </p:cNvPr>
          <p:cNvSpPr/>
          <p:nvPr/>
        </p:nvSpPr>
        <p:spPr>
          <a:xfrm flipH="false" flipV="false" rot="0">
            <a:off x="304213" y="630794"/>
            <a:ext cx="789684" cy="776762"/>
          </a:xfrm>
          <a:custGeom>
            <a:avLst/>
            <a:gdLst/>
            <a:ahLst/>
            <a:cxnLst/>
            <a:rect r="r" b="b" t="t" l="l"/>
            <a:pathLst>
              <a:path h="776762" w="789684">
                <a:moveTo>
                  <a:pt x="0" y="0"/>
                </a:moveTo>
                <a:lnTo>
                  <a:pt x="789684" y="0"/>
                </a:lnTo>
                <a:lnTo>
                  <a:pt x="789684" y="776762"/>
                </a:lnTo>
                <a:lnTo>
                  <a:pt x="0" y="7767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5013655" y="493541"/>
            <a:ext cx="6690845" cy="124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5"/>
              </a:lnSpc>
              <a:spcBef>
                <a:spcPct val="0"/>
              </a:spcBef>
            </a:pPr>
            <a:r>
              <a:rPr lang="en-US" b="true" sz="6532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GATEWAY NODE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78570" y="2841665"/>
            <a:ext cx="4433913" cy="56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4"/>
              </a:lnSpc>
              <a:spcBef>
                <a:spcPct val="0"/>
              </a:spcBef>
            </a:pPr>
            <a:r>
              <a:rPr lang="en-US" sz="358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RASPBERRY PI 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2087" y="6279325"/>
            <a:ext cx="371108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LORAWAN SX1302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11993" y="3429974"/>
            <a:ext cx="371108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GSM Sim800L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39600" y="6907417"/>
            <a:ext cx="3760861" cy="44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279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LCD DISPLAY SCREEN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107961" y="504019"/>
            <a:ext cx="281511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MICROSD CARD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51054" y="4454783"/>
            <a:ext cx="331815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BACKUP BATTERY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8808" y="2715080"/>
            <a:ext cx="236077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GRID POWER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-275236" y="5731607"/>
            <a:ext cx="2216919" cy="56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  <a:spcBef>
                <a:spcPct val="0"/>
              </a:spcBef>
            </a:pPr>
            <a:r>
              <a:rPr lang="en-US" sz="175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FROM SENSOR NODES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44655" y="1358242"/>
            <a:ext cx="3787415" cy="77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Why did we choose grid power over solar power for RPi?</a:t>
            </a:r>
          </a:p>
        </p:txBody>
      </p:sp>
      <p:sp>
        <p:nvSpPr>
          <p:cNvPr name="TextBox 56" id="56"/>
          <p:cNvSpPr txBox="true"/>
          <p:nvPr/>
        </p:nvSpPr>
        <p:spPr>
          <a:xfrm rot="-64324">
            <a:off x="4338400" y="2261668"/>
            <a:ext cx="8233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+5V</a:t>
            </a:r>
          </a:p>
        </p:txBody>
      </p:sp>
      <p:sp>
        <p:nvSpPr>
          <p:cNvPr name="TextBox 57" id="57"/>
          <p:cNvSpPr txBox="true"/>
          <p:nvPr/>
        </p:nvSpPr>
        <p:spPr>
          <a:xfrm rot="-64324">
            <a:off x="4603241" y="4074097"/>
            <a:ext cx="8233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+5V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937" y="-223162"/>
            <a:ext cx="2170874" cy="11140091"/>
            <a:chOff x="0" y="0"/>
            <a:chExt cx="571753" cy="2934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753" cy="2934016"/>
            </a:xfrm>
            <a:custGeom>
              <a:avLst/>
              <a:gdLst/>
              <a:ahLst/>
              <a:cxnLst/>
              <a:rect r="r" b="b" t="t" l="l"/>
              <a:pathLst>
                <a:path h="2934016" w="571753">
                  <a:moveTo>
                    <a:pt x="0" y="0"/>
                  </a:moveTo>
                  <a:lnTo>
                    <a:pt x="571753" y="0"/>
                  </a:lnTo>
                  <a:lnTo>
                    <a:pt x="571753" y="2934016"/>
                  </a:lnTo>
                  <a:lnTo>
                    <a:pt x="0" y="2934016"/>
                  </a:lnTo>
                  <a:close/>
                </a:path>
              </a:pathLst>
            </a:custGeom>
            <a:solidFill>
              <a:srgbClr val="6760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71753" cy="3019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5126" y="0"/>
            <a:ext cx="15086258" cy="10164366"/>
          </a:xfrm>
          <a:custGeom>
            <a:avLst/>
            <a:gdLst/>
            <a:ahLst/>
            <a:cxnLst/>
            <a:rect r="r" b="b" t="t" l="l"/>
            <a:pathLst>
              <a:path h="10164366" w="15086258">
                <a:moveTo>
                  <a:pt x="0" y="0"/>
                </a:moveTo>
                <a:lnTo>
                  <a:pt x="15086258" y="0"/>
                </a:lnTo>
                <a:lnTo>
                  <a:pt x="15086258" y="10164366"/>
                </a:lnTo>
                <a:lnTo>
                  <a:pt x="0" y="10164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6031" y="248909"/>
            <a:ext cx="694687" cy="955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</a:t>
            </a:r>
          </a:p>
          <a:p>
            <a:pPr algn="ctr">
              <a:lnSpc>
                <a:spcPts val="8350"/>
              </a:lnSpc>
              <a:spcBef>
                <a:spcPct val="0"/>
              </a:spcBef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81" y="502981"/>
            <a:ext cx="5985455" cy="9137136"/>
          </a:xfrm>
          <a:custGeom>
            <a:avLst/>
            <a:gdLst/>
            <a:ahLst/>
            <a:cxnLst/>
            <a:rect r="r" b="b" t="t" l="l"/>
            <a:pathLst>
              <a:path h="9137136" w="5985455">
                <a:moveTo>
                  <a:pt x="0" y="0"/>
                </a:moveTo>
                <a:lnTo>
                  <a:pt x="5985456" y="0"/>
                </a:lnTo>
                <a:lnTo>
                  <a:pt x="5985456" y="9137136"/>
                </a:lnTo>
                <a:lnTo>
                  <a:pt x="0" y="913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61" r="-168279" b="-316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0215" y="3201433"/>
            <a:ext cx="1501236" cy="1572252"/>
            <a:chOff x="0" y="0"/>
            <a:chExt cx="395387" cy="414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387" cy="414091"/>
            </a:xfrm>
            <a:custGeom>
              <a:avLst/>
              <a:gdLst/>
              <a:ahLst/>
              <a:cxnLst/>
              <a:rect r="r" b="b" t="t" l="l"/>
              <a:pathLst>
                <a:path h="414091" w="395387">
                  <a:moveTo>
                    <a:pt x="0" y="0"/>
                  </a:moveTo>
                  <a:lnTo>
                    <a:pt x="395387" y="0"/>
                  </a:lnTo>
                  <a:lnTo>
                    <a:pt x="395387" y="414091"/>
                  </a:lnTo>
                  <a:lnTo>
                    <a:pt x="0" y="414091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95387" cy="49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88206" y="1490277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1197" y="3378775"/>
            <a:ext cx="2006504" cy="1217568"/>
            <a:chOff x="0" y="0"/>
            <a:chExt cx="528462" cy="320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66491" y="3295881"/>
            <a:ext cx="1548685" cy="1498001"/>
          </a:xfrm>
          <a:custGeom>
            <a:avLst/>
            <a:gdLst/>
            <a:ahLst/>
            <a:cxnLst/>
            <a:rect r="r" b="b" t="t" l="l"/>
            <a:pathLst>
              <a:path h="1498001" w="1548685">
                <a:moveTo>
                  <a:pt x="0" y="0"/>
                </a:moveTo>
                <a:lnTo>
                  <a:pt x="1548685" y="0"/>
                </a:lnTo>
                <a:lnTo>
                  <a:pt x="1548685" y="1498001"/>
                </a:lnTo>
                <a:lnTo>
                  <a:pt x="0" y="149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14481" y="4548119"/>
            <a:ext cx="1341186" cy="13411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Water Source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(river)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881197" y="3388473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660" y="1499625"/>
            <a:ext cx="2982660" cy="825373"/>
            <a:chOff x="0" y="0"/>
            <a:chExt cx="843147" cy="233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9660" y="2706597"/>
            <a:ext cx="2982660" cy="825373"/>
            <a:chOff x="0" y="0"/>
            <a:chExt cx="843147" cy="233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660" y="3917979"/>
            <a:ext cx="2982660" cy="825373"/>
            <a:chOff x="0" y="0"/>
            <a:chExt cx="843147" cy="233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8651" y="5271353"/>
            <a:ext cx="3694254" cy="825373"/>
            <a:chOff x="0" y="0"/>
            <a:chExt cx="1044302" cy="233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302" cy="233319"/>
            </a:xfrm>
            <a:custGeom>
              <a:avLst/>
              <a:gdLst/>
              <a:ahLst/>
              <a:cxnLst/>
              <a:rect r="r" b="b" t="t" l="l"/>
              <a:pathLst>
                <a:path h="233319" w="1044302">
                  <a:moveTo>
                    <a:pt x="35626" y="0"/>
                  </a:moveTo>
                  <a:lnTo>
                    <a:pt x="1008676" y="0"/>
                  </a:lnTo>
                  <a:cubicBezTo>
                    <a:pt x="1028352" y="0"/>
                    <a:pt x="1044302" y="15950"/>
                    <a:pt x="1044302" y="35626"/>
                  </a:cubicBezTo>
                  <a:lnTo>
                    <a:pt x="1044302" y="197692"/>
                  </a:lnTo>
                  <a:cubicBezTo>
                    <a:pt x="1044302" y="207141"/>
                    <a:pt x="1040549" y="216203"/>
                    <a:pt x="1033868" y="222884"/>
                  </a:cubicBezTo>
                  <a:cubicBezTo>
                    <a:pt x="1027187" y="229565"/>
                    <a:pt x="1018125" y="233319"/>
                    <a:pt x="1008676" y="233319"/>
                  </a:cubicBezTo>
                  <a:lnTo>
                    <a:pt x="35626" y="233319"/>
                  </a:lnTo>
                  <a:cubicBezTo>
                    <a:pt x="26178" y="233319"/>
                    <a:pt x="17116" y="229565"/>
                    <a:pt x="10435" y="222884"/>
                  </a:cubicBezTo>
                  <a:cubicBezTo>
                    <a:pt x="3753" y="216203"/>
                    <a:pt x="0" y="207141"/>
                    <a:pt x="0" y="197692"/>
                  </a:cubicBezTo>
                  <a:lnTo>
                    <a:pt x="0" y="35626"/>
                  </a:lnTo>
                  <a:cubicBezTo>
                    <a:pt x="0" y="26178"/>
                    <a:pt x="3753" y="17116"/>
                    <a:pt x="10435" y="10435"/>
                  </a:cubicBezTo>
                  <a:cubicBezTo>
                    <a:pt x="17116" y="3753"/>
                    <a:pt x="26178" y="0"/>
                    <a:pt x="356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044302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849573" y="3636369"/>
            <a:ext cx="449959" cy="212708"/>
          </a:xfrm>
          <a:custGeom>
            <a:avLst/>
            <a:gdLst/>
            <a:ahLst/>
            <a:cxnLst/>
            <a:rect r="r" b="b" t="t" l="l"/>
            <a:pathLst>
              <a:path h="212708" w="449959">
                <a:moveTo>
                  <a:pt x="0" y="0"/>
                </a:moveTo>
                <a:lnTo>
                  <a:pt x="449959" y="0"/>
                </a:lnTo>
                <a:lnTo>
                  <a:pt x="449959" y="212708"/>
                </a:lnTo>
                <a:lnTo>
                  <a:pt x="0" y="212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964262" y="2422329"/>
            <a:ext cx="400141" cy="189157"/>
          </a:xfrm>
          <a:custGeom>
            <a:avLst/>
            <a:gdLst/>
            <a:ahLst/>
            <a:cxnLst/>
            <a:rect r="r" b="b" t="t" l="l"/>
            <a:pathLst>
              <a:path h="189157" w="400141">
                <a:moveTo>
                  <a:pt x="0" y="0"/>
                </a:moveTo>
                <a:lnTo>
                  <a:pt x="400141" y="0"/>
                </a:lnTo>
                <a:lnTo>
                  <a:pt x="400141" y="189158"/>
                </a:lnTo>
                <a:lnTo>
                  <a:pt x="0" y="18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832608" y="4845049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0" y="0"/>
                </a:lnTo>
                <a:lnTo>
                  <a:pt x="578930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533501" y="3289583"/>
            <a:ext cx="2598946" cy="4534206"/>
            <a:chOff x="0" y="0"/>
            <a:chExt cx="572907" cy="999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2907" cy="999513"/>
            </a:xfrm>
            <a:custGeom>
              <a:avLst/>
              <a:gdLst/>
              <a:ahLst/>
              <a:cxnLst/>
              <a:rect r="r" b="b" t="t" l="l"/>
              <a:pathLst>
                <a:path h="999513" w="572907">
                  <a:moveTo>
                    <a:pt x="50641" y="0"/>
                  </a:moveTo>
                  <a:lnTo>
                    <a:pt x="522266" y="0"/>
                  </a:lnTo>
                  <a:cubicBezTo>
                    <a:pt x="550234" y="0"/>
                    <a:pt x="572907" y="22673"/>
                    <a:pt x="572907" y="50641"/>
                  </a:cubicBezTo>
                  <a:lnTo>
                    <a:pt x="572907" y="948872"/>
                  </a:lnTo>
                  <a:cubicBezTo>
                    <a:pt x="572907" y="976840"/>
                    <a:pt x="550234" y="999513"/>
                    <a:pt x="522266" y="999513"/>
                  </a:cubicBezTo>
                  <a:lnTo>
                    <a:pt x="50641" y="999513"/>
                  </a:lnTo>
                  <a:cubicBezTo>
                    <a:pt x="22673" y="999513"/>
                    <a:pt x="0" y="976840"/>
                    <a:pt x="0" y="948872"/>
                  </a:cubicBezTo>
                  <a:lnTo>
                    <a:pt x="0" y="50641"/>
                  </a:lnTo>
                  <a:cubicBezTo>
                    <a:pt x="0" y="22673"/>
                    <a:pt x="22673" y="0"/>
                    <a:pt x="50641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72907" cy="1085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>
            <a:hlinkClick r:id="rId5" action="ppaction://hlinksldjump"/>
          </p:cNvPr>
          <p:cNvSpPr/>
          <p:nvPr/>
        </p:nvSpPr>
        <p:spPr>
          <a:xfrm flipH="false" flipV="false" rot="-5400000">
            <a:off x="11861633" y="4608004"/>
            <a:ext cx="3966320" cy="2152069"/>
          </a:xfrm>
          <a:custGeom>
            <a:avLst/>
            <a:gdLst/>
            <a:ahLst/>
            <a:cxnLst/>
            <a:rect r="r" b="b" t="t" l="l"/>
            <a:pathLst>
              <a:path h="2152069" w="3966320">
                <a:moveTo>
                  <a:pt x="0" y="0"/>
                </a:moveTo>
                <a:lnTo>
                  <a:pt x="3966320" y="0"/>
                </a:lnTo>
                <a:lnTo>
                  <a:pt x="3966320" y="2152070"/>
                </a:lnTo>
                <a:lnTo>
                  <a:pt x="0" y="215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86" t="-44660" r="-12270" b="-29031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773660" y="7284294"/>
            <a:ext cx="2710080" cy="2721348"/>
            <a:chOff x="0" y="0"/>
            <a:chExt cx="841376" cy="8448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376" cy="844875"/>
            </a:xfrm>
            <a:custGeom>
              <a:avLst/>
              <a:gdLst/>
              <a:ahLst/>
              <a:cxnLst/>
              <a:rect r="r" b="b" t="t" l="l"/>
              <a:pathLst>
                <a:path h="844875" w="841376">
                  <a:moveTo>
                    <a:pt x="48564" y="0"/>
                  </a:moveTo>
                  <a:lnTo>
                    <a:pt x="792812" y="0"/>
                  </a:lnTo>
                  <a:cubicBezTo>
                    <a:pt x="819633" y="0"/>
                    <a:pt x="841376" y="21743"/>
                    <a:pt x="841376" y="48564"/>
                  </a:cubicBezTo>
                  <a:lnTo>
                    <a:pt x="841376" y="796311"/>
                  </a:lnTo>
                  <a:cubicBezTo>
                    <a:pt x="841376" y="823132"/>
                    <a:pt x="819633" y="844875"/>
                    <a:pt x="792812" y="844875"/>
                  </a:cubicBezTo>
                  <a:lnTo>
                    <a:pt x="48564" y="844875"/>
                  </a:lnTo>
                  <a:cubicBezTo>
                    <a:pt x="21743" y="844875"/>
                    <a:pt x="0" y="823132"/>
                    <a:pt x="0" y="796311"/>
                  </a:cubicBezTo>
                  <a:lnTo>
                    <a:pt x="0" y="48564"/>
                  </a:lnTo>
                  <a:cubicBezTo>
                    <a:pt x="0" y="21743"/>
                    <a:pt x="21743" y="0"/>
                    <a:pt x="48564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841376" cy="93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71637" y="4266574"/>
            <a:ext cx="2273978" cy="2820818"/>
            <a:chOff x="0" y="0"/>
            <a:chExt cx="641040" cy="7951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1040" cy="795195"/>
            </a:xfrm>
            <a:custGeom>
              <a:avLst/>
              <a:gdLst/>
              <a:ahLst/>
              <a:cxnLst/>
              <a:rect r="r" b="b" t="t" l="l"/>
              <a:pathLst>
                <a:path h="795195" w="641040">
                  <a:moveTo>
                    <a:pt x="57878" y="0"/>
                  </a:moveTo>
                  <a:lnTo>
                    <a:pt x="583162" y="0"/>
                  </a:lnTo>
                  <a:cubicBezTo>
                    <a:pt x="615127" y="0"/>
                    <a:pt x="641040" y="25913"/>
                    <a:pt x="641040" y="57878"/>
                  </a:cubicBezTo>
                  <a:lnTo>
                    <a:pt x="641040" y="737317"/>
                  </a:lnTo>
                  <a:cubicBezTo>
                    <a:pt x="641040" y="752667"/>
                    <a:pt x="634942" y="767389"/>
                    <a:pt x="624088" y="778243"/>
                  </a:cubicBezTo>
                  <a:cubicBezTo>
                    <a:pt x="613233" y="789097"/>
                    <a:pt x="598512" y="795195"/>
                    <a:pt x="583162" y="795195"/>
                  </a:cubicBezTo>
                  <a:lnTo>
                    <a:pt x="57878" y="795195"/>
                  </a:lnTo>
                  <a:cubicBezTo>
                    <a:pt x="42528" y="795195"/>
                    <a:pt x="27806" y="789097"/>
                    <a:pt x="16952" y="778243"/>
                  </a:cubicBezTo>
                  <a:cubicBezTo>
                    <a:pt x="6098" y="767389"/>
                    <a:pt x="0" y="752667"/>
                    <a:pt x="0" y="737317"/>
                  </a:cubicBezTo>
                  <a:lnTo>
                    <a:pt x="0" y="57878"/>
                  </a:lnTo>
                  <a:cubicBezTo>
                    <a:pt x="0" y="42528"/>
                    <a:pt x="6098" y="27806"/>
                    <a:pt x="16952" y="16952"/>
                  </a:cubicBezTo>
                  <a:cubicBezTo>
                    <a:pt x="27806" y="6098"/>
                    <a:pt x="42528" y="0"/>
                    <a:pt x="57878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641040" cy="880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75039" y="4470212"/>
            <a:ext cx="3467174" cy="43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sz="2802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TURBIDITY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24161" y="5004179"/>
            <a:ext cx="1905997" cy="1843101"/>
            <a:chOff x="0" y="0"/>
            <a:chExt cx="812800" cy="785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85978"/>
            </a:xfrm>
            <a:custGeom>
              <a:avLst/>
              <a:gdLst/>
              <a:ahLst/>
              <a:cxnLst/>
              <a:rect r="r" b="b" t="t" l="l"/>
              <a:pathLst>
                <a:path h="785978" w="812800">
                  <a:moveTo>
                    <a:pt x="93423" y="0"/>
                  </a:moveTo>
                  <a:lnTo>
                    <a:pt x="719377" y="0"/>
                  </a:lnTo>
                  <a:cubicBezTo>
                    <a:pt x="770973" y="0"/>
                    <a:pt x="812800" y="41827"/>
                    <a:pt x="812800" y="93423"/>
                  </a:cubicBezTo>
                  <a:lnTo>
                    <a:pt x="812800" y="692555"/>
                  </a:lnTo>
                  <a:cubicBezTo>
                    <a:pt x="812800" y="717333"/>
                    <a:pt x="802957" y="741095"/>
                    <a:pt x="785437" y="758615"/>
                  </a:cubicBezTo>
                  <a:cubicBezTo>
                    <a:pt x="767917" y="776136"/>
                    <a:pt x="744154" y="785978"/>
                    <a:pt x="719377" y="785978"/>
                  </a:cubicBezTo>
                  <a:lnTo>
                    <a:pt x="93423" y="785978"/>
                  </a:lnTo>
                  <a:cubicBezTo>
                    <a:pt x="41827" y="785978"/>
                    <a:pt x="0" y="744151"/>
                    <a:pt x="0" y="692555"/>
                  </a:cubicBezTo>
                  <a:lnTo>
                    <a:pt x="0" y="93423"/>
                  </a:lnTo>
                  <a:cubicBezTo>
                    <a:pt x="0" y="41827"/>
                    <a:pt x="41827" y="0"/>
                    <a:pt x="9342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32" r="0" b="-123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835539" y="1499625"/>
            <a:ext cx="2953010" cy="2616027"/>
            <a:chOff x="0" y="0"/>
            <a:chExt cx="777747" cy="6889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7747" cy="688995"/>
            </a:xfrm>
            <a:custGeom>
              <a:avLst/>
              <a:gdLst/>
              <a:ahLst/>
              <a:cxnLst/>
              <a:rect r="r" b="b" t="t" l="l"/>
              <a:pathLst>
                <a:path h="688995" w="777747">
                  <a:moveTo>
                    <a:pt x="44569" y="0"/>
                  </a:moveTo>
                  <a:lnTo>
                    <a:pt x="733178" y="0"/>
                  </a:lnTo>
                  <a:cubicBezTo>
                    <a:pt x="744999" y="0"/>
                    <a:pt x="756335" y="4696"/>
                    <a:pt x="764693" y="13054"/>
                  </a:cubicBezTo>
                  <a:cubicBezTo>
                    <a:pt x="773052" y="21412"/>
                    <a:pt x="777747" y="32749"/>
                    <a:pt x="777747" y="44569"/>
                  </a:cubicBezTo>
                  <a:lnTo>
                    <a:pt x="777747" y="644426"/>
                  </a:lnTo>
                  <a:cubicBezTo>
                    <a:pt x="777747" y="656246"/>
                    <a:pt x="773052" y="667583"/>
                    <a:pt x="764693" y="675941"/>
                  </a:cubicBezTo>
                  <a:cubicBezTo>
                    <a:pt x="756335" y="684299"/>
                    <a:pt x="744999" y="688995"/>
                    <a:pt x="733178" y="688995"/>
                  </a:cubicBezTo>
                  <a:lnTo>
                    <a:pt x="44569" y="688995"/>
                  </a:lnTo>
                  <a:cubicBezTo>
                    <a:pt x="32749" y="688995"/>
                    <a:pt x="21412" y="684299"/>
                    <a:pt x="13054" y="675941"/>
                  </a:cubicBezTo>
                  <a:cubicBezTo>
                    <a:pt x="4696" y="667583"/>
                    <a:pt x="0" y="656246"/>
                    <a:pt x="0" y="644426"/>
                  </a:cubicBezTo>
                  <a:lnTo>
                    <a:pt x="0" y="44569"/>
                  </a:lnTo>
                  <a:cubicBezTo>
                    <a:pt x="0" y="32749"/>
                    <a:pt x="4696" y="21412"/>
                    <a:pt x="13054" y="13054"/>
                  </a:cubicBezTo>
                  <a:cubicBezTo>
                    <a:pt x="21412" y="4696"/>
                    <a:pt x="32749" y="0"/>
                    <a:pt x="44569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777747" cy="774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807737" y="3521116"/>
            <a:ext cx="1676975" cy="3326164"/>
            <a:chOff x="0" y="0"/>
            <a:chExt cx="489155" cy="9702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9155" cy="970205"/>
            </a:xfrm>
            <a:custGeom>
              <a:avLst/>
              <a:gdLst/>
              <a:ahLst/>
              <a:cxnLst/>
              <a:rect r="r" b="b" t="t" l="l"/>
              <a:pathLst>
                <a:path h="970205" w="489155">
                  <a:moveTo>
                    <a:pt x="78482" y="0"/>
                  </a:moveTo>
                  <a:lnTo>
                    <a:pt x="410673" y="0"/>
                  </a:lnTo>
                  <a:cubicBezTo>
                    <a:pt x="431488" y="0"/>
                    <a:pt x="451450" y="8269"/>
                    <a:pt x="466168" y="22987"/>
                  </a:cubicBezTo>
                  <a:cubicBezTo>
                    <a:pt x="480886" y="37705"/>
                    <a:pt x="489155" y="57667"/>
                    <a:pt x="489155" y="78482"/>
                  </a:cubicBezTo>
                  <a:lnTo>
                    <a:pt x="489155" y="891723"/>
                  </a:lnTo>
                  <a:cubicBezTo>
                    <a:pt x="489155" y="935067"/>
                    <a:pt x="454017" y="970205"/>
                    <a:pt x="410673" y="970205"/>
                  </a:cubicBezTo>
                  <a:lnTo>
                    <a:pt x="78482" y="970205"/>
                  </a:lnTo>
                  <a:cubicBezTo>
                    <a:pt x="57667" y="970205"/>
                    <a:pt x="37705" y="961936"/>
                    <a:pt x="22987" y="947218"/>
                  </a:cubicBezTo>
                  <a:cubicBezTo>
                    <a:pt x="8269" y="932500"/>
                    <a:pt x="0" y="912538"/>
                    <a:pt x="0" y="891723"/>
                  </a:cubicBezTo>
                  <a:lnTo>
                    <a:pt x="0" y="78482"/>
                  </a:lnTo>
                  <a:cubicBezTo>
                    <a:pt x="0" y="57667"/>
                    <a:pt x="8269" y="37705"/>
                    <a:pt x="22987" y="22987"/>
                  </a:cubicBezTo>
                  <a:cubicBezTo>
                    <a:pt x="37705" y="8269"/>
                    <a:pt x="57667" y="0"/>
                    <a:pt x="78482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489155" cy="105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61871">
            <a:off x="12406947" y="8100819"/>
            <a:ext cx="2552964" cy="1882003"/>
            <a:chOff x="0" y="0"/>
            <a:chExt cx="672386" cy="4956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2386" cy="495672"/>
            </a:xfrm>
            <a:custGeom>
              <a:avLst/>
              <a:gdLst/>
              <a:ahLst/>
              <a:cxnLst/>
              <a:rect r="r" b="b" t="t" l="l"/>
              <a:pathLst>
                <a:path h="495672" w="672386">
                  <a:moveTo>
                    <a:pt x="51553" y="0"/>
                  </a:moveTo>
                  <a:lnTo>
                    <a:pt x="620833" y="0"/>
                  </a:lnTo>
                  <a:cubicBezTo>
                    <a:pt x="649305" y="0"/>
                    <a:pt x="672386" y="23081"/>
                    <a:pt x="672386" y="51553"/>
                  </a:cubicBezTo>
                  <a:lnTo>
                    <a:pt x="672386" y="444119"/>
                  </a:lnTo>
                  <a:cubicBezTo>
                    <a:pt x="672386" y="457791"/>
                    <a:pt x="666954" y="470904"/>
                    <a:pt x="657286" y="480572"/>
                  </a:cubicBezTo>
                  <a:cubicBezTo>
                    <a:pt x="647618" y="490240"/>
                    <a:pt x="634505" y="495672"/>
                    <a:pt x="620833" y="495672"/>
                  </a:cubicBezTo>
                  <a:lnTo>
                    <a:pt x="51553" y="495672"/>
                  </a:lnTo>
                  <a:cubicBezTo>
                    <a:pt x="23081" y="495672"/>
                    <a:pt x="0" y="472591"/>
                    <a:pt x="0" y="444119"/>
                  </a:cubicBezTo>
                  <a:lnTo>
                    <a:pt x="0" y="51553"/>
                  </a:lnTo>
                  <a:cubicBezTo>
                    <a:pt x="0" y="23081"/>
                    <a:pt x="23081" y="0"/>
                    <a:pt x="51553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672386" cy="58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-5400000">
            <a:off x="15177756" y="4726337"/>
            <a:ext cx="2789294" cy="1278544"/>
          </a:xfrm>
          <a:custGeom>
            <a:avLst/>
            <a:gdLst/>
            <a:ahLst/>
            <a:cxnLst/>
            <a:rect r="r" b="b" t="t" l="l"/>
            <a:pathLst>
              <a:path h="1278544" w="2789294">
                <a:moveTo>
                  <a:pt x="0" y="0"/>
                </a:moveTo>
                <a:lnTo>
                  <a:pt x="2789294" y="0"/>
                </a:lnTo>
                <a:lnTo>
                  <a:pt x="2789294" y="1278545"/>
                </a:lnTo>
                <a:lnTo>
                  <a:pt x="0" y="1278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900" t="-26987" r="-10808" b="-134172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721900" y="-84198"/>
            <a:ext cx="11688425" cy="124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5"/>
              </a:lnSpc>
              <a:spcBef>
                <a:spcPct val="0"/>
              </a:spcBef>
            </a:pPr>
            <a:r>
              <a:rPr lang="en-US" b="true" sz="6532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FIELD MONITORING NODE 1</a:t>
            </a:r>
          </a:p>
        </p:txBody>
      </p:sp>
      <p:sp>
        <p:nvSpPr>
          <p:cNvPr name="Freeform 41" id="41"/>
          <p:cNvSpPr/>
          <p:nvPr/>
        </p:nvSpPr>
        <p:spPr>
          <a:xfrm flipH="true" flipV="true" rot="-5475285">
            <a:off x="17480347" y="4781036"/>
            <a:ext cx="725214" cy="643462"/>
          </a:xfrm>
          <a:custGeom>
            <a:avLst/>
            <a:gdLst/>
            <a:ahLst/>
            <a:cxnLst/>
            <a:rect r="r" b="b" t="t" l="l"/>
            <a:pathLst>
              <a:path h="643462" w="725214">
                <a:moveTo>
                  <a:pt x="725213" y="643462"/>
                </a:moveTo>
                <a:lnTo>
                  <a:pt x="0" y="643462"/>
                </a:lnTo>
                <a:lnTo>
                  <a:pt x="0" y="0"/>
                </a:lnTo>
                <a:lnTo>
                  <a:pt x="725213" y="0"/>
                </a:lnTo>
                <a:lnTo>
                  <a:pt x="725213" y="64346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65629">
            <a:off x="14953714" y="5453559"/>
            <a:ext cx="975106" cy="460959"/>
          </a:xfrm>
          <a:custGeom>
            <a:avLst/>
            <a:gdLst/>
            <a:ahLst/>
            <a:cxnLst/>
            <a:rect r="r" b="b" t="t" l="l"/>
            <a:pathLst>
              <a:path h="460959" w="975106">
                <a:moveTo>
                  <a:pt x="0" y="0"/>
                </a:moveTo>
                <a:lnTo>
                  <a:pt x="975106" y="0"/>
                </a:lnTo>
                <a:lnTo>
                  <a:pt x="975106" y="460960"/>
                </a:lnTo>
                <a:lnTo>
                  <a:pt x="0" y="46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5400000">
            <a:off x="5373267" y="1719256"/>
            <a:ext cx="1850076" cy="2653336"/>
            <a:chOff x="0" y="0"/>
            <a:chExt cx="566736" cy="812800"/>
          </a:xfrm>
        </p:grpSpPr>
        <p:sp>
          <p:nvSpPr>
            <p:cNvPr name="Freeform 44" id="44"/>
            <p:cNvSpPr/>
            <p:nvPr/>
          </p:nvSpPr>
          <p:spPr>
            <a:xfrm flipH="false" flipV="true" rot="0">
              <a:off x="0" y="0"/>
              <a:ext cx="566736" cy="812800"/>
            </a:xfrm>
            <a:custGeom>
              <a:avLst/>
              <a:gdLst/>
              <a:ahLst/>
              <a:cxnLst/>
              <a:rect r="r" b="b" t="t" l="l"/>
              <a:pathLst>
                <a:path h="812800" w="566736">
                  <a:moveTo>
                    <a:pt x="96247" y="812800"/>
                  </a:moveTo>
                  <a:lnTo>
                    <a:pt x="470489" y="812800"/>
                  </a:lnTo>
                  <a:cubicBezTo>
                    <a:pt x="523645" y="812800"/>
                    <a:pt x="566736" y="769709"/>
                    <a:pt x="566736" y="716553"/>
                  </a:cubicBezTo>
                  <a:lnTo>
                    <a:pt x="566736" y="96247"/>
                  </a:lnTo>
                  <a:cubicBezTo>
                    <a:pt x="566736" y="43091"/>
                    <a:pt x="523645" y="0"/>
                    <a:pt x="470489" y="0"/>
                  </a:cubicBezTo>
                  <a:lnTo>
                    <a:pt x="96247" y="0"/>
                  </a:lnTo>
                  <a:cubicBezTo>
                    <a:pt x="43091" y="0"/>
                    <a:pt x="0" y="43091"/>
                    <a:pt x="0" y="96247"/>
                  </a:cubicBezTo>
                  <a:lnTo>
                    <a:pt x="0" y="716553"/>
                  </a:lnTo>
                  <a:cubicBezTo>
                    <a:pt x="0" y="769709"/>
                    <a:pt x="43091" y="812800"/>
                    <a:pt x="96247" y="812800"/>
                  </a:cubicBezTo>
                  <a:close/>
                </a:path>
              </a:pathLst>
            </a:custGeom>
            <a:blipFill>
              <a:blip r:embed="rId10"/>
              <a:stretch>
                <a:fillRect l="-20081" t="0" r="-20081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5400000">
            <a:off x="5214646" y="7641122"/>
            <a:ext cx="1827038" cy="2292978"/>
            <a:chOff x="0" y="0"/>
            <a:chExt cx="812800" cy="10200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1020084"/>
            </a:xfrm>
            <a:custGeom>
              <a:avLst/>
              <a:gdLst/>
              <a:ahLst/>
              <a:cxnLst/>
              <a:rect r="r" b="b" t="t" l="l"/>
              <a:pathLst>
                <a:path h="1020084" w="812800">
                  <a:moveTo>
                    <a:pt x="97461" y="0"/>
                  </a:moveTo>
                  <a:lnTo>
                    <a:pt x="715339" y="0"/>
                  </a:lnTo>
                  <a:cubicBezTo>
                    <a:pt x="769165" y="0"/>
                    <a:pt x="812800" y="43635"/>
                    <a:pt x="812800" y="97461"/>
                  </a:cubicBezTo>
                  <a:lnTo>
                    <a:pt x="812800" y="922623"/>
                  </a:lnTo>
                  <a:cubicBezTo>
                    <a:pt x="812800" y="976449"/>
                    <a:pt x="769165" y="1020084"/>
                    <a:pt x="715339" y="1020084"/>
                  </a:cubicBezTo>
                  <a:lnTo>
                    <a:pt x="97461" y="1020084"/>
                  </a:lnTo>
                  <a:cubicBezTo>
                    <a:pt x="71612" y="1020084"/>
                    <a:pt x="46823" y="1009816"/>
                    <a:pt x="28546" y="991538"/>
                  </a:cubicBezTo>
                  <a:cubicBezTo>
                    <a:pt x="10268" y="973261"/>
                    <a:pt x="0" y="948471"/>
                    <a:pt x="0" y="922623"/>
                  </a:cubicBezTo>
                  <a:lnTo>
                    <a:pt x="0" y="97461"/>
                  </a:lnTo>
                  <a:cubicBezTo>
                    <a:pt x="0" y="43635"/>
                    <a:pt x="43635" y="0"/>
                    <a:pt x="97461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6467" r="0" b="-6467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66112" y="4039227"/>
            <a:ext cx="2454638" cy="2865426"/>
            <a:chOff x="0" y="0"/>
            <a:chExt cx="646489" cy="754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6489" cy="754680"/>
            </a:xfrm>
            <a:custGeom>
              <a:avLst/>
              <a:gdLst/>
              <a:ahLst/>
              <a:cxnLst/>
              <a:rect r="r" b="b" t="t" l="l"/>
              <a:pathLst>
                <a:path h="754680" w="646489">
                  <a:moveTo>
                    <a:pt x="53618" y="0"/>
                  </a:moveTo>
                  <a:lnTo>
                    <a:pt x="592871" y="0"/>
                  </a:lnTo>
                  <a:cubicBezTo>
                    <a:pt x="607091" y="0"/>
                    <a:pt x="620729" y="5649"/>
                    <a:pt x="630785" y="15704"/>
                  </a:cubicBezTo>
                  <a:cubicBezTo>
                    <a:pt x="640840" y="25760"/>
                    <a:pt x="646489" y="39398"/>
                    <a:pt x="646489" y="53618"/>
                  </a:cubicBezTo>
                  <a:lnTo>
                    <a:pt x="646489" y="701062"/>
                  </a:lnTo>
                  <a:cubicBezTo>
                    <a:pt x="646489" y="715283"/>
                    <a:pt x="640840" y="728921"/>
                    <a:pt x="630785" y="738976"/>
                  </a:cubicBezTo>
                  <a:cubicBezTo>
                    <a:pt x="620729" y="749031"/>
                    <a:pt x="607091" y="754680"/>
                    <a:pt x="592871" y="754680"/>
                  </a:cubicBezTo>
                  <a:lnTo>
                    <a:pt x="53618" y="754680"/>
                  </a:lnTo>
                  <a:cubicBezTo>
                    <a:pt x="39398" y="754680"/>
                    <a:pt x="25760" y="749031"/>
                    <a:pt x="15704" y="738976"/>
                  </a:cubicBezTo>
                  <a:cubicBezTo>
                    <a:pt x="5649" y="728921"/>
                    <a:pt x="0" y="715283"/>
                    <a:pt x="0" y="701062"/>
                  </a:cubicBezTo>
                  <a:lnTo>
                    <a:pt x="0" y="53618"/>
                  </a:lnTo>
                  <a:cubicBezTo>
                    <a:pt x="0" y="39398"/>
                    <a:pt x="5649" y="25760"/>
                    <a:pt x="15704" y="15704"/>
                  </a:cubicBezTo>
                  <a:cubicBezTo>
                    <a:pt x="25760" y="5649"/>
                    <a:pt x="39398" y="0"/>
                    <a:pt x="53618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646489" cy="840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8823287" y="4630888"/>
            <a:ext cx="2096557" cy="1939511"/>
          </a:xfrm>
          <a:custGeom>
            <a:avLst/>
            <a:gdLst/>
            <a:ahLst/>
            <a:cxnLst/>
            <a:rect r="r" b="b" t="t" l="l"/>
            <a:pathLst>
              <a:path h="1939511" w="2096557">
                <a:moveTo>
                  <a:pt x="0" y="0"/>
                </a:moveTo>
                <a:lnTo>
                  <a:pt x="2096557" y="0"/>
                </a:lnTo>
                <a:lnTo>
                  <a:pt x="2096557" y="1939511"/>
                </a:lnTo>
                <a:lnTo>
                  <a:pt x="0" y="19395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>
            <a:off x="4511114" y="1410508"/>
            <a:ext cx="10386682" cy="400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-88399">
            <a:off x="12548429" y="8533930"/>
            <a:ext cx="2196060" cy="1189467"/>
          </a:xfrm>
          <a:custGeom>
            <a:avLst/>
            <a:gdLst/>
            <a:ahLst/>
            <a:cxnLst/>
            <a:rect r="r" b="b" t="t" l="l"/>
            <a:pathLst>
              <a:path h="1189467" w="2196060">
                <a:moveTo>
                  <a:pt x="0" y="0"/>
                </a:moveTo>
                <a:lnTo>
                  <a:pt x="2196060" y="0"/>
                </a:lnTo>
                <a:lnTo>
                  <a:pt x="2196060" y="1189467"/>
                </a:lnTo>
                <a:lnTo>
                  <a:pt x="0" y="11894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249" r="0" b="-3249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1616017" y="3179669"/>
            <a:ext cx="4433913" cy="56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4"/>
              </a:lnSpc>
              <a:spcBef>
                <a:spcPct val="0"/>
              </a:spcBef>
            </a:pPr>
            <a:r>
              <a:rPr lang="en-US" sz="358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ESP 32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86681" y="1677640"/>
            <a:ext cx="253153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SOLAR POWER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89798" y="2888135"/>
            <a:ext cx="194238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TP4056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6378" y="4099518"/>
            <a:ext cx="244922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LiPO BATTERY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6272" y="5452891"/>
            <a:ext cx="3392352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BOOST CONVERTER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773660" y="7432222"/>
            <a:ext cx="2757792" cy="36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ORP ELECTRODE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71668" y="1598916"/>
            <a:ext cx="371108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PH PROBE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897796" y="3608231"/>
            <a:ext cx="3711082" cy="3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LORAWAN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151245" y="4099518"/>
            <a:ext cx="371108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24 BIT ADC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47933" y="8201349"/>
            <a:ext cx="2528706" cy="3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Temperature sensor</a:t>
            </a:r>
          </a:p>
        </p:txBody>
      </p:sp>
      <p:sp>
        <p:nvSpPr>
          <p:cNvPr name="AutoShape 63" id="63"/>
          <p:cNvSpPr/>
          <p:nvPr/>
        </p:nvSpPr>
        <p:spPr>
          <a:xfrm>
            <a:off x="7245614" y="5657932"/>
            <a:ext cx="1218791" cy="261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4" id="64"/>
          <p:cNvSpPr/>
          <p:nvPr/>
        </p:nvSpPr>
        <p:spPr>
          <a:xfrm>
            <a:off x="7788956" y="2762486"/>
            <a:ext cx="1814292" cy="1239823"/>
          </a:xfrm>
          <a:custGeom>
            <a:avLst/>
            <a:gdLst/>
            <a:ahLst/>
            <a:cxnLst/>
            <a:rect r="r" b="b" t="t" l="l"/>
            <a:pathLst>
              <a:path h="1239823" w="1814292">
                <a:moveTo>
                  <a:pt x="0" y="0"/>
                </a:moveTo>
                <a:lnTo>
                  <a:pt x="678546" y="0"/>
                </a:lnTo>
                <a:cubicBezTo>
                  <a:pt x="739175" y="0"/>
                  <a:pt x="797320" y="24085"/>
                  <a:pt x="840190" y="66956"/>
                </a:cubicBezTo>
                <a:cubicBezTo>
                  <a:pt x="883061" y="109826"/>
                  <a:pt x="907146" y="167972"/>
                  <a:pt x="907146" y="228600"/>
                </a:cubicBezTo>
                <a:lnTo>
                  <a:pt x="907146" y="1011224"/>
                </a:lnTo>
                <a:cubicBezTo>
                  <a:pt x="907146" y="1071852"/>
                  <a:pt x="931230" y="1129997"/>
                  <a:pt x="974101" y="1172868"/>
                </a:cubicBezTo>
                <a:cubicBezTo>
                  <a:pt x="1016972" y="1215739"/>
                  <a:pt x="1075117" y="1239824"/>
                  <a:pt x="1135746" y="1239824"/>
                </a:cubicBezTo>
                <a:lnTo>
                  <a:pt x="1814292" y="123982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5" id="65"/>
          <p:cNvSpPr/>
          <p:nvPr/>
        </p:nvSpPr>
        <p:spPr>
          <a:xfrm>
            <a:off x="7510183" y="6132943"/>
            <a:ext cx="1119991" cy="2512024"/>
          </a:xfrm>
          <a:custGeom>
            <a:avLst/>
            <a:gdLst/>
            <a:ahLst/>
            <a:cxnLst/>
            <a:rect r="r" b="b" t="t" l="l"/>
            <a:pathLst>
              <a:path h="2512024" w="1119991">
                <a:moveTo>
                  <a:pt x="0" y="2512025"/>
                </a:moveTo>
                <a:lnTo>
                  <a:pt x="0" y="1484613"/>
                </a:lnTo>
                <a:cubicBezTo>
                  <a:pt x="0" y="1423984"/>
                  <a:pt x="24084" y="1365839"/>
                  <a:pt x="66955" y="1322969"/>
                </a:cubicBezTo>
                <a:cubicBezTo>
                  <a:pt x="109826" y="1280098"/>
                  <a:pt x="167971" y="1256013"/>
                  <a:pt x="228600" y="1256013"/>
                </a:cubicBezTo>
                <a:lnTo>
                  <a:pt x="891390" y="1256013"/>
                </a:lnTo>
                <a:cubicBezTo>
                  <a:pt x="952019" y="1256013"/>
                  <a:pt x="1010164" y="1231928"/>
                  <a:pt x="1053035" y="1189057"/>
                </a:cubicBezTo>
                <a:cubicBezTo>
                  <a:pt x="1095906" y="1146187"/>
                  <a:pt x="1119990" y="1088042"/>
                  <a:pt x="1119990" y="1027413"/>
                </a:cubicBezTo>
                <a:lnTo>
                  <a:pt x="111999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6" id="66"/>
          <p:cNvSpPr/>
          <p:nvPr/>
        </p:nvSpPr>
        <p:spPr>
          <a:xfrm>
            <a:off x="11095226" y="5490986"/>
            <a:ext cx="1218791" cy="261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7" id="67"/>
          <p:cNvSpPr/>
          <p:nvPr/>
        </p:nvSpPr>
        <p:spPr>
          <a:xfrm>
            <a:off x="12314017" y="6760256"/>
            <a:ext cx="181901" cy="2281564"/>
          </a:xfrm>
          <a:custGeom>
            <a:avLst/>
            <a:gdLst/>
            <a:ahLst/>
            <a:cxnLst/>
            <a:rect r="r" b="b" t="t" l="l"/>
            <a:pathLst>
              <a:path h="2281564" w="181901">
                <a:moveTo>
                  <a:pt x="0" y="2281564"/>
                </a:moveTo>
                <a:lnTo>
                  <a:pt x="0" y="1231734"/>
                </a:lnTo>
                <a:cubicBezTo>
                  <a:pt x="0" y="1181503"/>
                  <a:pt x="40720" y="1140783"/>
                  <a:pt x="90951" y="1140783"/>
                </a:cubicBezTo>
                <a:lnTo>
                  <a:pt x="90951" y="1140783"/>
                </a:lnTo>
                <a:cubicBezTo>
                  <a:pt x="141182" y="1140783"/>
                  <a:pt x="181902" y="1100063"/>
                  <a:pt x="181902" y="1049832"/>
                </a:cubicBezTo>
                <a:lnTo>
                  <a:pt x="181902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8" id="68"/>
          <p:cNvSpPr/>
          <p:nvPr/>
        </p:nvSpPr>
        <p:spPr>
          <a:xfrm flipH="true">
            <a:off x="14803596" y="1463726"/>
            <a:ext cx="43899" cy="17727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9" id="69"/>
          <p:cNvSpPr txBox="true"/>
          <p:nvPr/>
        </p:nvSpPr>
        <p:spPr>
          <a:xfrm rot="0">
            <a:off x="13835079" y="2010613"/>
            <a:ext cx="7683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+5V</a:t>
            </a:r>
          </a:p>
        </p:txBody>
      </p:sp>
      <p:sp>
        <p:nvSpPr>
          <p:cNvPr name="Freeform 70" id="70"/>
          <p:cNvSpPr/>
          <p:nvPr/>
        </p:nvSpPr>
        <p:spPr>
          <a:xfrm>
            <a:off x="4185015" y="1334018"/>
            <a:ext cx="345140" cy="4350021"/>
          </a:xfrm>
          <a:custGeom>
            <a:avLst/>
            <a:gdLst/>
            <a:ahLst/>
            <a:cxnLst/>
            <a:rect r="r" b="b" t="t" l="l"/>
            <a:pathLst>
              <a:path h="4350021" w="345140">
                <a:moveTo>
                  <a:pt x="0" y="4350021"/>
                </a:moveTo>
                <a:lnTo>
                  <a:pt x="0" y="2347581"/>
                </a:lnTo>
                <a:cubicBezTo>
                  <a:pt x="0" y="2301812"/>
                  <a:pt x="18182" y="2257918"/>
                  <a:pt x="50545" y="2225555"/>
                </a:cubicBezTo>
                <a:cubicBezTo>
                  <a:pt x="82908" y="2193192"/>
                  <a:pt x="126802" y="2175010"/>
                  <a:pt x="172571" y="2175010"/>
                </a:cubicBezTo>
                <a:lnTo>
                  <a:pt x="172571" y="2175010"/>
                </a:lnTo>
                <a:cubicBezTo>
                  <a:pt x="218339" y="2175010"/>
                  <a:pt x="262233" y="2156829"/>
                  <a:pt x="294596" y="2124466"/>
                </a:cubicBezTo>
                <a:cubicBezTo>
                  <a:pt x="326959" y="2092103"/>
                  <a:pt x="345140" y="2048209"/>
                  <a:pt x="345140" y="2002441"/>
                </a:cubicBezTo>
                <a:lnTo>
                  <a:pt x="34514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403130" y="6570399"/>
            <a:ext cx="3694254" cy="825373"/>
            <a:chOff x="0" y="0"/>
            <a:chExt cx="1044302" cy="2333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4302" cy="233319"/>
            </a:xfrm>
            <a:custGeom>
              <a:avLst/>
              <a:gdLst/>
              <a:ahLst/>
              <a:cxnLst/>
              <a:rect r="r" b="b" t="t" l="l"/>
              <a:pathLst>
                <a:path h="233319" w="1044302">
                  <a:moveTo>
                    <a:pt x="35626" y="0"/>
                  </a:moveTo>
                  <a:lnTo>
                    <a:pt x="1008676" y="0"/>
                  </a:lnTo>
                  <a:cubicBezTo>
                    <a:pt x="1028352" y="0"/>
                    <a:pt x="1044302" y="15950"/>
                    <a:pt x="1044302" y="35626"/>
                  </a:cubicBezTo>
                  <a:lnTo>
                    <a:pt x="1044302" y="197692"/>
                  </a:lnTo>
                  <a:cubicBezTo>
                    <a:pt x="1044302" y="207141"/>
                    <a:pt x="1040549" y="216203"/>
                    <a:pt x="1033868" y="222884"/>
                  </a:cubicBezTo>
                  <a:cubicBezTo>
                    <a:pt x="1027187" y="229565"/>
                    <a:pt x="1018125" y="233319"/>
                    <a:pt x="1008676" y="233319"/>
                  </a:cubicBezTo>
                  <a:lnTo>
                    <a:pt x="35626" y="233319"/>
                  </a:lnTo>
                  <a:cubicBezTo>
                    <a:pt x="26178" y="233319"/>
                    <a:pt x="17116" y="229565"/>
                    <a:pt x="10435" y="222884"/>
                  </a:cubicBezTo>
                  <a:cubicBezTo>
                    <a:pt x="3753" y="216203"/>
                    <a:pt x="0" y="207141"/>
                    <a:pt x="0" y="197692"/>
                  </a:cubicBezTo>
                  <a:lnTo>
                    <a:pt x="0" y="35626"/>
                  </a:lnTo>
                  <a:cubicBezTo>
                    <a:pt x="0" y="26178"/>
                    <a:pt x="3753" y="17116"/>
                    <a:pt x="10435" y="10435"/>
                  </a:cubicBezTo>
                  <a:cubicBezTo>
                    <a:pt x="17116" y="3753"/>
                    <a:pt x="26178" y="0"/>
                    <a:pt x="356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1044302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411784" y="6703106"/>
            <a:ext cx="369425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SENSOR ARRAY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5400000">
            <a:off x="1960792" y="6248789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1" y="0"/>
                </a:lnTo>
                <a:lnTo>
                  <a:pt x="578931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6743" y="179708"/>
            <a:ext cx="14601395" cy="9927583"/>
          </a:xfrm>
          <a:custGeom>
            <a:avLst/>
            <a:gdLst/>
            <a:ahLst/>
            <a:cxnLst/>
            <a:rect r="r" b="b" t="t" l="l"/>
            <a:pathLst>
              <a:path h="9927583" w="14601395">
                <a:moveTo>
                  <a:pt x="0" y="0"/>
                </a:moveTo>
                <a:lnTo>
                  <a:pt x="14601395" y="0"/>
                </a:lnTo>
                <a:lnTo>
                  <a:pt x="14601395" y="9927584"/>
                </a:lnTo>
                <a:lnTo>
                  <a:pt x="0" y="992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9" t="-1680" r="-856" b="-18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937" y="-223162"/>
            <a:ext cx="2170874" cy="11140091"/>
            <a:chOff x="0" y="0"/>
            <a:chExt cx="571753" cy="2934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1753" cy="2934016"/>
            </a:xfrm>
            <a:custGeom>
              <a:avLst/>
              <a:gdLst/>
              <a:ahLst/>
              <a:cxnLst/>
              <a:rect r="r" b="b" t="t" l="l"/>
              <a:pathLst>
                <a:path h="2934016" w="571753">
                  <a:moveTo>
                    <a:pt x="0" y="0"/>
                  </a:moveTo>
                  <a:lnTo>
                    <a:pt x="571753" y="0"/>
                  </a:lnTo>
                  <a:lnTo>
                    <a:pt x="571753" y="2934016"/>
                  </a:lnTo>
                  <a:lnTo>
                    <a:pt x="0" y="2934016"/>
                  </a:lnTo>
                  <a:close/>
                </a:path>
              </a:pathLst>
            </a:custGeom>
            <a:solidFill>
              <a:srgbClr val="67604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71753" cy="3019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46031" y="248909"/>
            <a:ext cx="694687" cy="955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</a:t>
            </a:r>
          </a:p>
          <a:p>
            <a:pPr algn="ctr">
              <a:lnSpc>
                <a:spcPts val="8350"/>
              </a:lnSpc>
              <a:spcBef>
                <a:spcPct val="0"/>
              </a:spcBef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81" y="502981"/>
            <a:ext cx="10270299" cy="9137136"/>
          </a:xfrm>
          <a:custGeom>
            <a:avLst/>
            <a:gdLst/>
            <a:ahLst/>
            <a:cxnLst/>
            <a:rect r="r" b="b" t="t" l="l"/>
            <a:pathLst>
              <a:path h="9137136" w="10270299">
                <a:moveTo>
                  <a:pt x="0" y="0"/>
                </a:moveTo>
                <a:lnTo>
                  <a:pt x="10270299" y="0"/>
                </a:lnTo>
                <a:lnTo>
                  <a:pt x="10270299" y="9137136"/>
                </a:lnTo>
                <a:lnTo>
                  <a:pt x="0" y="913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61" r="-56351" b="-316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0215" y="3201433"/>
            <a:ext cx="1501236" cy="1572252"/>
            <a:chOff x="0" y="0"/>
            <a:chExt cx="395387" cy="414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387" cy="414091"/>
            </a:xfrm>
            <a:custGeom>
              <a:avLst/>
              <a:gdLst/>
              <a:ahLst/>
              <a:cxnLst/>
              <a:rect r="r" b="b" t="t" l="l"/>
              <a:pathLst>
                <a:path h="414091" w="395387">
                  <a:moveTo>
                    <a:pt x="0" y="0"/>
                  </a:moveTo>
                  <a:lnTo>
                    <a:pt x="395387" y="0"/>
                  </a:lnTo>
                  <a:lnTo>
                    <a:pt x="395387" y="414091"/>
                  </a:lnTo>
                  <a:lnTo>
                    <a:pt x="0" y="414091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95387" cy="49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88206" y="1490277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1197" y="3378775"/>
            <a:ext cx="2006504" cy="1217568"/>
            <a:chOff x="0" y="0"/>
            <a:chExt cx="528462" cy="320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78277" y="3436098"/>
            <a:ext cx="2006504" cy="1217568"/>
            <a:chOff x="0" y="0"/>
            <a:chExt cx="528462" cy="320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766491" y="3295881"/>
            <a:ext cx="1548685" cy="1498001"/>
          </a:xfrm>
          <a:custGeom>
            <a:avLst/>
            <a:gdLst/>
            <a:ahLst/>
            <a:cxnLst/>
            <a:rect r="r" b="b" t="t" l="l"/>
            <a:pathLst>
              <a:path h="1498001" w="1548685">
                <a:moveTo>
                  <a:pt x="0" y="0"/>
                </a:moveTo>
                <a:lnTo>
                  <a:pt x="1548685" y="0"/>
                </a:lnTo>
                <a:lnTo>
                  <a:pt x="1548685" y="1498001"/>
                </a:lnTo>
                <a:lnTo>
                  <a:pt x="0" y="149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32788" y="1584725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985687" y="3201433"/>
            <a:ext cx="1757660" cy="3529192"/>
            <a:chOff x="0" y="0"/>
            <a:chExt cx="462923" cy="929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923" cy="929499"/>
            </a:xfrm>
            <a:custGeom>
              <a:avLst/>
              <a:gdLst/>
              <a:ahLst/>
              <a:cxnLst/>
              <a:rect r="r" b="b" t="t" l="l"/>
              <a:pathLst>
                <a:path h="929499" w="462923">
                  <a:moveTo>
                    <a:pt x="0" y="0"/>
                  </a:moveTo>
                  <a:lnTo>
                    <a:pt x="462923" y="0"/>
                  </a:lnTo>
                  <a:lnTo>
                    <a:pt x="462923" y="929499"/>
                  </a:lnTo>
                  <a:lnTo>
                    <a:pt x="0" y="929499"/>
                  </a:lnTo>
                  <a:close/>
                </a:path>
              </a:pathLst>
            </a:custGeom>
            <a:solidFill>
              <a:srgbClr val="D6C8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462923" cy="101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OVERHEAD TANK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4481" y="4548119"/>
            <a:ext cx="1341186" cy="13411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Water Source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(river)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81197" y="3388473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0291" y="3494019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1633" y="1338146"/>
            <a:ext cx="2982660" cy="825373"/>
            <a:chOff x="0" y="0"/>
            <a:chExt cx="843147" cy="233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1633" y="2545118"/>
            <a:ext cx="2982660" cy="825373"/>
            <a:chOff x="0" y="0"/>
            <a:chExt cx="843147" cy="233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1633" y="3756501"/>
            <a:ext cx="2982660" cy="825373"/>
            <a:chOff x="0" y="0"/>
            <a:chExt cx="843147" cy="233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0624" y="5109874"/>
            <a:ext cx="3694254" cy="825373"/>
            <a:chOff x="0" y="0"/>
            <a:chExt cx="1044302" cy="233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302" cy="233319"/>
            </a:xfrm>
            <a:custGeom>
              <a:avLst/>
              <a:gdLst/>
              <a:ahLst/>
              <a:cxnLst/>
              <a:rect r="r" b="b" t="t" l="l"/>
              <a:pathLst>
                <a:path h="233319" w="1044302">
                  <a:moveTo>
                    <a:pt x="35626" y="0"/>
                  </a:moveTo>
                  <a:lnTo>
                    <a:pt x="1008676" y="0"/>
                  </a:lnTo>
                  <a:cubicBezTo>
                    <a:pt x="1028352" y="0"/>
                    <a:pt x="1044302" y="15950"/>
                    <a:pt x="1044302" y="35626"/>
                  </a:cubicBezTo>
                  <a:lnTo>
                    <a:pt x="1044302" y="197692"/>
                  </a:lnTo>
                  <a:cubicBezTo>
                    <a:pt x="1044302" y="207141"/>
                    <a:pt x="1040549" y="216203"/>
                    <a:pt x="1033868" y="222884"/>
                  </a:cubicBezTo>
                  <a:cubicBezTo>
                    <a:pt x="1027187" y="229565"/>
                    <a:pt x="1018125" y="233319"/>
                    <a:pt x="1008676" y="233319"/>
                  </a:cubicBezTo>
                  <a:lnTo>
                    <a:pt x="35626" y="233319"/>
                  </a:lnTo>
                  <a:cubicBezTo>
                    <a:pt x="26178" y="233319"/>
                    <a:pt x="17116" y="229565"/>
                    <a:pt x="10435" y="222884"/>
                  </a:cubicBezTo>
                  <a:cubicBezTo>
                    <a:pt x="3753" y="216203"/>
                    <a:pt x="0" y="207141"/>
                    <a:pt x="0" y="197692"/>
                  </a:cubicBezTo>
                  <a:lnTo>
                    <a:pt x="0" y="35626"/>
                  </a:lnTo>
                  <a:cubicBezTo>
                    <a:pt x="0" y="26178"/>
                    <a:pt x="3753" y="17116"/>
                    <a:pt x="10435" y="10435"/>
                  </a:cubicBezTo>
                  <a:cubicBezTo>
                    <a:pt x="17116" y="3753"/>
                    <a:pt x="26178" y="0"/>
                    <a:pt x="356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044302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781546" y="3474891"/>
            <a:ext cx="449959" cy="212708"/>
          </a:xfrm>
          <a:custGeom>
            <a:avLst/>
            <a:gdLst/>
            <a:ahLst/>
            <a:cxnLst/>
            <a:rect r="r" b="b" t="t" l="l"/>
            <a:pathLst>
              <a:path h="212708" w="449959">
                <a:moveTo>
                  <a:pt x="0" y="0"/>
                </a:moveTo>
                <a:lnTo>
                  <a:pt x="449958" y="0"/>
                </a:lnTo>
                <a:lnTo>
                  <a:pt x="449958" y="212708"/>
                </a:lnTo>
                <a:lnTo>
                  <a:pt x="0" y="212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896235" y="2260851"/>
            <a:ext cx="400141" cy="189157"/>
          </a:xfrm>
          <a:custGeom>
            <a:avLst/>
            <a:gdLst/>
            <a:ahLst/>
            <a:cxnLst/>
            <a:rect r="r" b="b" t="t" l="l"/>
            <a:pathLst>
              <a:path h="189157" w="400141">
                <a:moveTo>
                  <a:pt x="0" y="0"/>
                </a:moveTo>
                <a:lnTo>
                  <a:pt x="400141" y="0"/>
                </a:lnTo>
                <a:lnTo>
                  <a:pt x="400141" y="189157"/>
                </a:lnTo>
                <a:lnTo>
                  <a:pt x="0" y="1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764581" y="4683571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0" y="0"/>
                </a:lnTo>
                <a:lnTo>
                  <a:pt x="578930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899077" y="7115155"/>
            <a:ext cx="2695195" cy="2606238"/>
            <a:chOff x="0" y="0"/>
            <a:chExt cx="836755" cy="8091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755" cy="809137"/>
            </a:xfrm>
            <a:custGeom>
              <a:avLst/>
              <a:gdLst/>
              <a:ahLst/>
              <a:cxnLst/>
              <a:rect r="r" b="b" t="t" l="l"/>
              <a:pathLst>
                <a:path h="809137" w="836755">
                  <a:moveTo>
                    <a:pt x="48832" y="0"/>
                  </a:moveTo>
                  <a:lnTo>
                    <a:pt x="787923" y="0"/>
                  </a:lnTo>
                  <a:cubicBezTo>
                    <a:pt x="814892" y="0"/>
                    <a:pt x="836755" y="21863"/>
                    <a:pt x="836755" y="48832"/>
                  </a:cubicBezTo>
                  <a:lnTo>
                    <a:pt x="836755" y="760305"/>
                  </a:lnTo>
                  <a:cubicBezTo>
                    <a:pt x="836755" y="787274"/>
                    <a:pt x="814892" y="809137"/>
                    <a:pt x="787923" y="809137"/>
                  </a:cubicBezTo>
                  <a:lnTo>
                    <a:pt x="48832" y="809137"/>
                  </a:lnTo>
                  <a:cubicBezTo>
                    <a:pt x="21863" y="809137"/>
                    <a:pt x="0" y="787274"/>
                    <a:pt x="0" y="760305"/>
                  </a:cubicBezTo>
                  <a:lnTo>
                    <a:pt x="0" y="48832"/>
                  </a:lnTo>
                  <a:cubicBezTo>
                    <a:pt x="0" y="21863"/>
                    <a:pt x="21863" y="0"/>
                    <a:pt x="48832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36755" cy="89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60598" y="1633206"/>
            <a:ext cx="2919192" cy="2558908"/>
            <a:chOff x="0" y="0"/>
            <a:chExt cx="768841" cy="673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841" cy="673951"/>
            </a:xfrm>
            <a:custGeom>
              <a:avLst/>
              <a:gdLst/>
              <a:ahLst/>
              <a:cxnLst/>
              <a:rect r="r" b="b" t="t" l="l"/>
              <a:pathLst>
                <a:path h="673951" w="768841">
                  <a:moveTo>
                    <a:pt x="45085" y="0"/>
                  </a:moveTo>
                  <a:lnTo>
                    <a:pt x="723755" y="0"/>
                  </a:lnTo>
                  <a:cubicBezTo>
                    <a:pt x="748655" y="0"/>
                    <a:pt x="768841" y="20185"/>
                    <a:pt x="768841" y="45085"/>
                  </a:cubicBezTo>
                  <a:lnTo>
                    <a:pt x="768841" y="628866"/>
                  </a:lnTo>
                  <a:cubicBezTo>
                    <a:pt x="768841" y="653766"/>
                    <a:pt x="748655" y="673951"/>
                    <a:pt x="723755" y="673951"/>
                  </a:cubicBezTo>
                  <a:lnTo>
                    <a:pt x="45085" y="673951"/>
                  </a:lnTo>
                  <a:cubicBezTo>
                    <a:pt x="20185" y="673951"/>
                    <a:pt x="0" y="653766"/>
                    <a:pt x="0" y="628866"/>
                  </a:cubicBezTo>
                  <a:lnTo>
                    <a:pt x="0" y="45085"/>
                  </a:lnTo>
                  <a:cubicBezTo>
                    <a:pt x="0" y="20185"/>
                    <a:pt x="20185" y="0"/>
                    <a:pt x="45085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768841" cy="75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81546" y="1604657"/>
            <a:ext cx="3056298" cy="1941969"/>
            <a:chOff x="0" y="0"/>
            <a:chExt cx="804951" cy="5114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951" cy="511465"/>
            </a:xfrm>
            <a:custGeom>
              <a:avLst/>
              <a:gdLst/>
              <a:ahLst/>
              <a:cxnLst/>
              <a:rect r="r" b="b" t="t" l="l"/>
              <a:pathLst>
                <a:path h="511465" w="804951">
                  <a:moveTo>
                    <a:pt x="43063" y="0"/>
                  </a:moveTo>
                  <a:lnTo>
                    <a:pt x="761888" y="0"/>
                  </a:lnTo>
                  <a:cubicBezTo>
                    <a:pt x="773309" y="0"/>
                    <a:pt x="784262" y="4537"/>
                    <a:pt x="792338" y="12613"/>
                  </a:cubicBezTo>
                  <a:cubicBezTo>
                    <a:pt x="800414" y="20689"/>
                    <a:pt x="804951" y="31642"/>
                    <a:pt x="804951" y="43063"/>
                  </a:cubicBezTo>
                  <a:lnTo>
                    <a:pt x="804951" y="468402"/>
                  </a:lnTo>
                  <a:cubicBezTo>
                    <a:pt x="804951" y="479823"/>
                    <a:pt x="800414" y="490776"/>
                    <a:pt x="792338" y="498852"/>
                  </a:cubicBezTo>
                  <a:cubicBezTo>
                    <a:pt x="784262" y="506928"/>
                    <a:pt x="773309" y="511465"/>
                    <a:pt x="761888" y="511465"/>
                  </a:cubicBezTo>
                  <a:lnTo>
                    <a:pt x="43063" y="511465"/>
                  </a:lnTo>
                  <a:cubicBezTo>
                    <a:pt x="31642" y="511465"/>
                    <a:pt x="20689" y="506928"/>
                    <a:pt x="12613" y="498852"/>
                  </a:cubicBezTo>
                  <a:cubicBezTo>
                    <a:pt x="4537" y="490776"/>
                    <a:pt x="0" y="479823"/>
                    <a:pt x="0" y="468402"/>
                  </a:cubicBezTo>
                  <a:lnTo>
                    <a:pt x="0" y="43063"/>
                  </a:lnTo>
                  <a:cubicBezTo>
                    <a:pt x="0" y="31642"/>
                    <a:pt x="4537" y="20689"/>
                    <a:pt x="12613" y="12613"/>
                  </a:cubicBezTo>
                  <a:cubicBezTo>
                    <a:pt x="20689" y="4537"/>
                    <a:pt x="31642" y="0"/>
                    <a:pt x="43063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804951" cy="597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80685" y="4503010"/>
            <a:ext cx="2313587" cy="2459577"/>
            <a:chOff x="0" y="0"/>
            <a:chExt cx="652205" cy="693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2205" cy="693360"/>
            </a:xfrm>
            <a:custGeom>
              <a:avLst/>
              <a:gdLst/>
              <a:ahLst/>
              <a:cxnLst/>
              <a:rect r="r" b="b" t="t" l="l"/>
              <a:pathLst>
                <a:path h="693360" w="652205">
                  <a:moveTo>
                    <a:pt x="56887" y="0"/>
                  </a:moveTo>
                  <a:lnTo>
                    <a:pt x="595319" y="0"/>
                  </a:lnTo>
                  <a:cubicBezTo>
                    <a:pt x="610406" y="0"/>
                    <a:pt x="624875" y="5993"/>
                    <a:pt x="635544" y="16662"/>
                  </a:cubicBezTo>
                  <a:cubicBezTo>
                    <a:pt x="646212" y="27330"/>
                    <a:pt x="652205" y="41800"/>
                    <a:pt x="652205" y="56887"/>
                  </a:cubicBezTo>
                  <a:lnTo>
                    <a:pt x="652205" y="636474"/>
                  </a:lnTo>
                  <a:cubicBezTo>
                    <a:pt x="652205" y="651561"/>
                    <a:pt x="646212" y="666030"/>
                    <a:pt x="635544" y="676699"/>
                  </a:cubicBezTo>
                  <a:cubicBezTo>
                    <a:pt x="624875" y="687367"/>
                    <a:pt x="610406" y="693360"/>
                    <a:pt x="595319" y="693360"/>
                  </a:cubicBezTo>
                  <a:lnTo>
                    <a:pt x="56887" y="693360"/>
                  </a:lnTo>
                  <a:cubicBezTo>
                    <a:pt x="41800" y="693360"/>
                    <a:pt x="27330" y="687367"/>
                    <a:pt x="16662" y="676699"/>
                  </a:cubicBezTo>
                  <a:cubicBezTo>
                    <a:pt x="5993" y="666030"/>
                    <a:pt x="0" y="651561"/>
                    <a:pt x="0" y="636474"/>
                  </a:cubicBezTo>
                  <a:lnTo>
                    <a:pt x="0" y="56887"/>
                  </a:lnTo>
                  <a:cubicBezTo>
                    <a:pt x="0" y="41800"/>
                    <a:pt x="5993" y="27330"/>
                    <a:pt x="16662" y="16662"/>
                  </a:cubicBezTo>
                  <a:cubicBezTo>
                    <a:pt x="27330" y="5993"/>
                    <a:pt x="41800" y="0"/>
                    <a:pt x="56887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652205" cy="779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23161" y="1604657"/>
            <a:ext cx="2447891" cy="2421366"/>
            <a:chOff x="0" y="0"/>
            <a:chExt cx="644712" cy="6377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4712" cy="637726"/>
            </a:xfrm>
            <a:custGeom>
              <a:avLst/>
              <a:gdLst/>
              <a:ahLst/>
              <a:cxnLst/>
              <a:rect r="r" b="b" t="t" l="l"/>
              <a:pathLst>
                <a:path h="637726" w="644712">
                  <a:moveTo>
                    <a:pt x="53766" y="0"/>
                  </a:moveTo>
                  <a:lnTo>
                    <a:pt x="590946" y="0"/>
                  </a:lnTo>
                  <a:cubicBezTo>
                    <a:pt x="620640" y="0"/>
                    <a:pt x="644712" y="24072"/>
                    <a:pt x="644712" y="53766"/>
                  </a:cubicBezTo>
                  <a:lnTo>
                    <a:pt x="644712" y="583960"/>
                  </a:lnTo>
                  <a:cubicBezTo>
                    <a:pt x="644712" y="598220"/>
                    <a:pt x="639048" y="611895"/>
                    <a:pt x="628964" y="621979"/>
                  </a:cubicBezTo>
                  <a:cubicBezTo>
                    <a:pt x="618881" y="632062"/>
                    <a:pt x="605206" y="637726"/>
                    <a:pt x="590946" y="637726"/>
                  </a:cubicBezTo>
                  <a:lnTo>
                    <a:pt x="53766" y="637726"/>
                  </a:lnTo>
                  <a:cubicBezTo>
                    <a:pt x="24072" y="637726"/>
                    <a:pt x="0" y="613654"/>
                    <a:pt x="0" y="583960"/>
                  </a:cubicBezTo>
                  <a:lnTo>
                    <a:pt x="0" y="53766"/>
                  </a:lnTo>
                  <a:cubicBezTo>
                    <a:pt x="0" y="24072"/>
                    <a:pt x="24072" y="0"/>
                    <a:pt x="5376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644712" cy="723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633190" y="1806873"/>
            <a:ext cx="371108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Ph PROBE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54154" y="1585607"/>
            <a:ext cx="3711082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LORAWAN SX1286</a:t>
            </a:r>
          </a:p>
        </p:txBody>
      </p:sp>
      <p:sp>
        <p:nvSpPr>
          <p:cNvPr name="Freeform 34" id="34"/>
          <p:cNvSpPr/>
          <p:nvPr/>
        </p:nvSpPr>
        <p:spPr>
          <a:xfrm flipH="true" flipV="true" rot="-5400000">
            <a:off x="17132504" y="1940272"/>
            <a:ext cx="1224514" cy="1086478"/>
          </a:xfrm>
          <a:custGeom>
            <a:avLst/>
            <a:gdLst/>
            <a:ahLst/>
            <a:cxnLst/>
            <a:rect r="r" b="b" t="t" l="l"/>
            <a:pathLst>
              <a:path h="1086478" w="1224514">
                <a:moveTo>
                  <a:pt x="1224514" y="1086478"/>
                </a:moveTo>
                <a:lnTo>
                  <a:pt x="0" y="1086478"/>
                </a:lnTo>
                <a:lnTo>
                  <a:pt x="0" y="0"/>
                </a:lnTo>
                <a:lnTo>
                  <a:pt x="1224514" y="0"/>
                </a:lnTo>
                <a:lnTo>
                  <a:pt x="1224514" y="10864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076965" y="4910305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0" y="0"/>
                </a:lnTo>
                <a:lnTo>
                  <a:pt x="578930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5400000">
            <a:off x="5522990" y="1899599"/>
            <a:ext cx="1701834" cy="2440730"/>
            <a:chOff x="0" y="0"/>
            <a:chExt cx="566736" cy="812800"/>
          </a:xfrm>
        </p:grpSpPr>
        <p:sp>
          <p:nvSpPr>
            <p:cNvPr name="Freeform 37" id="37"/>
            <p:cNvSpPr/>
            <p:nvPr/>
          </p:nvSpPr>
          <p:spPr>
            <a:xfrm flipH="false" flipV="true" rot="0">
              <a:off x="0" y="0"/>
              <a:ext cx="566736" cy="812800"/>
            </a:xfrm>
            <a:custGeom>
              <a:avLst/>
              <a:gdLst/>
              <a:ahLst/>
              <a:cxnLst/>
              <a:rect r="r" b="b" t="t" l="l"/>
              <a:pathLst>
                <a:path h="812800" w="566736">
                  <a:moveTo>
                    <a:pt x="104631" y="812800"/>
                  </a:moveTo>
                  <a:lnTo>
                    <a:pt x="462106" y="812800"/>
                  </a:lnTo>
                  <a:cubicBezTo>
                    <a:pt x="519892" y="812800"/>
                    <a:pt x="566736" y="765955"/>
                    <a:pt x="566736" y="708169"/>
                  </a:cubicBezTo>
                  <a:lnTo>
                    <a:pt x="566736" y="104631"/>
                  </a:lnTo>
                  <a:cubicBezTo>
                    <a:pt x="566736" y="76881"/>
                    <a:pt x="555713" y="50268"/>
                    <a:pt x="536091" y="30646"/>
                  </a:cubicBezTo>
                  <a:cubicBezTo>
                    <a:pt x="516469" y="11024"/>
                    <a:pt x="489855" y="0"/>
                    <a:pt x="462106" y="0"/>
                  </a:cubicBezTo>
                  <a:lnTo>
                    <a:pt x="104631" y="0"/>
                  </a:lnTo>
                  <a:cubicBezTo>
                    <a:pt x="46845" y="0"/>
                    <a:pt x="0" y="46845"/>
                    <a:pt x="0" y="104631"/>
                  </a:cubicBezTo>
                  <a:lnTo>
                    <a:pt x="0" y="708169"/>
                  </a:lnTo>
                  <a:cubicBezTo>
                    <a:pt x="0" y="765955"/>
                    <a:pt x="46845" y="812800"/>
                    <a:pt x="104631" y="812800"/>
                  </a:cubicBezTo>
                  <a:close/>
                </a:path>
              </a:pathLst>
            </a:custGeom>
            <a:blipFill>
              <a:blip r:embed="rId6"/>
              <a:stretch>
                <a:fillRect l="-20081" t="0" r="-20081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5400000">
            <a:off x="5317659" y="7752225"/>
            <a:ext cx="1561971" cy="1960312"/>
            <a:chOff x="0" y="0"/>
            <a:chExt cx="812800" cy="10200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1020084"/>
            </a:xfrm>
            <a:custGeom>
              <a:avLst/>
              <a:gdLst/>
              <a:ahLst/>
              <a:cxnLst/>
              <a:rect r="r" b="b" t="t" l="l"/>
              <a:pathLst>
                <a:path h="1020084" w="812800">
                  <a:moveTo>
                    <a:pt x="114000" y="0"/>
                  </a:moveTo>
                  <a:lnTo>
                    <a:pt x="698800" y="0"/>
                  </a:lnTo>
                  <a:cubicBezTo>
                    <a:pt x="761761" y="0"/>
                    <a:pt x="812800" y="51039"/>
                    <a:pt x="812800" y="114000"/>
                  </a:cubicBezTo>
                  <a:lnTo>
                    <a:pt x="812800" y="906084"/>
                  </a:lnTo>
                  <a:cubicBezTo>
                    <a:pt x="812800" y="969044"/>
                    <a:pt x="761761" y="1020084"/>
                    <a:pt x="698800" y="1020084"/>
                  </a:cubicBezTo>
                  <a:lnTo>
                    <a:pt x="114000" y="1020084"/>
                  </a:lnTo>
                  <a:cubicBezTo>
                    <a:pt x="51039" y="1020084"/>
                    <a:pt x="0" y="969044"/>
                    <a:pt x="0" y="906084"/>
                  </a:cubicBezTo>
                  <a:lnTo>
                    <a:pt x="0" y="114000"/>
                  </a:lnTo>
                  <a:cubicBezTo>
                    <a:pt x="0" y="51039"/>
                    <a:pt x="51039" y="0"/>
                    <a:pt x="114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467" r="0" b="-646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500096" y="5029585"/>
            <a:ext cx="1874765" cy="1812899"/>
            <a:chOff x="0" y="0"/>
            <a:chExt cx="812800" cy="7859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85978"/>
            </a:xfrm>
            <a:custGeom>
              <a:avLst/>
              <a:gdLst/>
              <a:ahLst/>
              <a:cxnLst/>
              <a:rect r="r" b="b" t="t" l="l"/>
              <a:pathLst>
                <a:path h="785978" w="812800">
                  <a:moveTo>
                    <a:pt x="94979" y="0"/>
                  </a:moveTo>
                  <a:lnTo>
                    <a:pt x="717821" y="0"/>
                  </a:lnTo>
                  <a:cubicBezTo>
                    <a:pt x="770276" y="0"/>
                    <a:pt x="812800" y="42524"/>
                    <a:pt x="812800" y="94979"/>
                  </a:cubicBezTo>
                  <a:lnTo>
                    <a:pt x="812800" y="690999"/>
                  </a:lnTo>
                  <a:cubicBezTo>
                    <a:pt x="812800" y="743455"/>
                    <a:pt x="770276" y="785978"/>
                    <a:pt x="717821" y="785978"/>
                  </a:cubicBezTo>
                  <a:lnTo>
                    <a:pt x="94979" y="785978"/>
                  </a:lnTo>
                  <a:cubicBezTo>
                    <a:pt x="42524" y="785978"/>
                    <a:pt x="0" y="743455"/>
                    <a:pt x="0" y="690999"/>
                  </a:cubicBezTo>
                  <a:lnTo>
                    <a:pt x="0" y="94979"/>
                  </a:lnTo>
                  <a:cubicBezTo>
                    <a:pt x="0" y="42524"/>
                    <a:pt x="42524" y="0"/>
                    <a:pt x="9497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32" r="0" b="-1232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5400000">
            <a:off x="9157314" y="2145144"/>
            <a:ext cx="1349727" cy="2026460"/>
          </a:xfrm>
          <a:custGeom>
            <a:avLst/>
            <a:gdLst/>
            <a:ahLst/>
            <a:cxnLst/>
            <a:rect r="r" b="b" t="t" l="l"/>
            <a:pathLst>
              <a:path h="2026460" w="1349727">
                <a:moveTo>
                  <a:pt x="0" y="0"/>
                </a:moveTo>
                <a:lnTo>
                  <a:pt x="1349727" y="0"/>
                </a:lnTo>
                <a:lnTo>
                  <a:pt x="1349727" y="2026461"/>
                </a:lnTo>
                <a:lnTo>
                  <a:pt x="0" y="20264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9236980" y="4644499"/>
            <a:ext cx="2273094" cy="2470656"/>
            <a:chOff x="0" y="0"/>
            <a:chExt cx="598675" cy="6507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8675" cy="650708"/>
            </a:xfrm>
            <a:custGeom>
              <a:avLst/>
              <a:gdLst/>
              <a:ahLst/>
              <a:cxnLst/>
              <a:rect r="r" b="b" t="t" l="l"/>
              <a:pathLst>
                <a:path h="650708" w="598675">
                  <a:moveTo>
                    <a:pt x="57900" y="0"/>
                  </a:moveTo>
                  <a:lnTo>
                    <a:pt x="540775" y="0"/>
                  </a:lnTo>
                  <a:cubicBezTo>
                    <a:pt x="572752" y="0"/>
                    <a:pt x="598675" y="25923"/>
                    <a:pt x="598675" y="57900"/>
                  </a:cubicBezTo>
                  <a:lnTo>
                    <a:pt x="598675" y="592808"/>
                  </a:lnTo>
                  <a:cubicBezTo>
                    <a:pt x="598675" y="608164"/>
                    <a:pt x="592575" y="622891"/>
                    <a:pt x="581716" y="633749"/>
                  </a:cubicBezTo>
                  <a:cubicBezTo>
                    <a:pt x="570858" y="644608"/>
                    <a:pt x="556131" y="650708"/>
                    <a:pt x="540775" y="650708"/>
                  </a:cubicBezTo>
                  <a:lnTo>
                    <a:pt x="57900" y="650708"/>
                  </a:lnTo>
                  <a:cubicBezTo>
                    <a:pt x="25923" y="650708"/>
                    <a:pt x="0" y="624785"/>
                    <a:pt x="0" y="592808"/>
                  </a:cubicBezTo>
                  <a:lnTo>
                    <a:pt x="0" y="57900"/>
                  </a:lnTo>
                  <a:cubicBezTo>
                    <a:pt x="0" y="25923"/>
                    <a:pt x="25923" y="0"/>
                    <a:pt x="57900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598675" cy="73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393406" y="5098049"/>
            <a:ext cx="1884426" cy="1743270"/>
          </a:xfrm>
          <a:custGeom>
            <a:avLst/>
            <a:gdLst/>
            <a:ahLst/>
            <a:cxnLst/>
            <a:rect r="r" b="b" t="t" l="l"/>
            <a:pathLst>
              <a:path h="1743270" w="1884426">
                <a:moveTo>
                  <a:pt x="0" y="0"/>
                </a:moveTo>
                <a:lnTo>
                  <a:pt x="1884425" y="0"/>
                </a:lnTo>
                <a:lnTo>
                  <a:pt x="1884425" y="1743270"/>
                </a:lnTo>
                <a:lnTo>
                  <a:pt x="0" y="1743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008938" y="4511015"/>
            <a:ext cx="2899997" cy="5126956"/>
          </a:xfrm>
          <a:custGeom>
            <a:avLst/>
            <a:gdLst/>
            <a:ahLst/>
            <a:cxnLst/>
            <a:rect r="r" b="b" t="t" l="l"/>
            <a:pathLst>
              <a:path h="5126956" w="2899997">
                <a:moveTo>
                  <a:pt x="0" y="0"/>
                </a:moveTo>
                <a:lnTo>
                  <a:pt x="2899997" y="0"/>
                </a:lnTo>
                <a:lnTo>
                  <a:pt x="2899997" y="5126956"/>
                </a:lnTo>
                <a:lnTo>
                  <a:pt x="0" y="51269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539632" y="1604657"/>
            <a:ext cx="1973083" cy="2002833"/>
            <a:chOff x="0" y="0"/>
            <a:chExt cx="519660" cy="5274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9660" cy="527495"/>
            </a:xfrm>
            <a:custGeom>
              <a:avLst/>
              <a:gdLst/>
              <a:ahLst/>
              <a:cxnLst/>
              <a:rect r="r" b="b" t="t" l="l"/>
              <a:pathLst>
                <a:path h="527495" w="519660">
                  <a:moveTo>
                    <a:pt x="66704" y="0"/>
                  </a:moveTo>
                  <a:lnTo>
                    <a:pt x="452956" y="0"/>
                  </a:lnTo>
                  <a:cubicBezTo>
                    <a:pt x="470647" y="0"/>
                    <a:pt x="487613" y="7028"/>
                    <a:pt x="500122" y="19537"/>
                  </a:cubicBezTo>
                  <a:cubicBezTo>
                    <a:pt x="512632" y="32047"/>
                    <a:pt x="519660" y="49013"/>
                    <a:pt x="519660" y="66704"/>
                  </a:cubicBezTo>
                  <a:lnTo>
                    <a:pt x="519660" y="460791"/>
                  </a:lnTo>
                  <a:cubicBezTo>
                    <a:pt x="519660" y="478482"/>
                    <a:pt x="512632" y="495448"/>
                    <a:pt x="500122" y="507958"/>
                  </a:cubicBezTo>
                  <a:cubicBezTo>
                    <a:pt x="487613" y="520467"/>
                    <a:pt x="470647" y="527495"/>
                    <a:pt x="452956" y="527495"/>
                  </a:cubicBezTo>
                  <a:lnTo>
                    <a:pt x="66704" y="527495"/>
                  </a:lnTo>
                  <a:cubicBezTo>
                    <a:pt x="49013" y="527495"/>
                    <a:pt x="32047" y="520467"/>
                    <a:pt x="19537" y="507958"/>
                  </a:cubicBezTo>
                  <a:cubicBezTo>
                    <a:pt x="7028" y="495448"/>
                    <a:pt x="0" y="478482"/>
                    <a:pt x="0" y="460791"/>
                  </a:cubicBezTo>
                  <a:lnTo>
                    <a:pt x="0" y="66704"/>
                  </a:lnTo>
                  <a:cubicBezTo>
                    <a:pt x="0" y="49013"/>
                    <a:pt x="7028" y="32047"/>
                    <a:pt x="19537" y="19537"/>
                  </a:cubicBezTo>
                  <a:cubicBezTo>
                    <a:pt x="32047" y="7028"/>
                    <a:pt x="49013" y="0"/>
                    <a:pt x="66704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85725"/>
              <a:ext cx="519660" cy="6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1697726" y="2032965"/>
            <a:ext cx="1479693" cy="1498640"/>
          </a:xfrm>
          <a:custGeom>
            <a:avLst/>
            <a:gdLst/>
            <a:ahLst/>
            <a:cxnLst/>
            <a:rect r="r" b="b" t="t" l="l"/>
            <a:pathLst>
              <a:path h="1498640" w="1479693">
                <a:moveTo>
                  <a:pt x="0" y="0"/>
                </a:moveTo>
                <a:lnTo>
                  <a:pt x="1479693" y="0"/>
                </a:lnTo>
                <a:lnTo>
                  <a:pt x="1479693" y="1498639"/>
                </a:lnTo>
                <a:lnTo>
                  <a:pt x="0" y="149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815320" y="7368616"/>
            <a:ext cx="2862709" cy="40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b="true" sz="2544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ORP ELECTRODE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03892" y="4585163"/>
            <a:ext cx="3467174" cy="39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  <a:spcBef>
                <a:spcPct val="0"/>
              </a:spcBef>
            </a:pPr>
            <a:r>
              <a:rPr lang="en-US" b="true" sz="2502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TURBIDITY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464406" y="4653443"/>
            <a:ext cx="3711082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24 BIT ADC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62430" y="1677640"/>
            <a:ext cx="2150285" cy="3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b="true" sz="2138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Flow sensor</a:t>
            </a:r>
          </a:p>
        </p:txBody>
      </p:sp>
      <p:sp>
        <p:nvSpPr>
          <p:cNvPr name="Freeform 56" id="56"/>
          <p:cNvSpPr/>
          <p:nvPr/>
        </p:nvSpPr>
        <p:spPr>
          <a:xfrm>
            <a:off x="8417046" y="5969684"/>
            <a:ext cx="846399" cy="0"/>
          </a:xfrm>
          <a:custGeom>
            <a:avLst/>
            <a:gdLst/>
            <a:ahLst/>
            <a:cxnLst/>
            <a:rect r="r" b="b" t="t" l="l"/>
            <a:pathLst>
              <a:path h="0" w="846399">
                <a:moveTo>
                  <a:pt x="0" y="0"/>
                </a:moveTo>
                <a:lnTo>
                  <a:pt x="846399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7" id="57"/>
          <p:cNvSpPr/>
          <p:nvPr/>
        </p:nvSpPr>
        <p:spPr>
          <a:xfrm>
            <a:off x="7822000" y="4154192"/>
            <a:ext cx="1414980" cy="1004894"/>
          </a:xfrm>
          <a:custGeom>
            <a:avLst/>
            <a:gdLst/>
            <a:ahLst/>
            <a:cxnLst/>
            <a:rect r="r" b="b" t="t" l="l"/>
            <a:pathLst>
              <a:path h="1004894" w="1414980">
                <a:moveTo>
                  <a:pt x="0" y="0"/>
                </a:moveTo>
                <a:lnTo>
                  <a:pt x="478890" y="0"/>
                </a:lnTo>
                <a:cubicBezTo>
                  <a:pt x="539519" y="0"/>
                  <a:pt x="597664" y="24084"/>
                  <a:pt x="640535" y="66955"/>
                </a:cubicBezTo>
                <a:cubicBezTo>
                  <a:pt x="683406" y="109826"/>
                  <a:pt x="707490" y="167971"/>
                  <a:pt x="707490" y="228600"/>
                </a:cubicBezTo>
                <a:lnTo>
                  <a:pt x="707490" y="776293"/>
                </a:lnTo>
                <a:cubicBezTo>
                  <a:pt x="707490" y="836922"/>
                  <a:pt x="731575" y="895067"/>
                  <a:pt x="774446" y="937938"/>
                </a:cubicBezTo>
                <a:cubicBezTo>
                  <a:pt x="817316" y="980809"/>
                  <a:pt x="875461" y="1004893"/>
                  <a:pt x="936090" y="1004893"/>
                </a:cubicBezTo>
                <a:lnTo>
                  <a:pt x="1414980" y="100489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8" id="58"/>
          <p:cNvSpPr/>
          <p:nvPr/>
        </p:nvSpPr>
        <p:spPr>
          <a:xfrm>
            <a:off x="7594272" y="6648459"/>
            <a:ext cx="1642707" cy="1769815"/>
          </a:xfrm>
          <a:custGeom>
            <a:avLst/>
            <a:gdLst/>
            <a:ahLst/>
            <a:cxnLst/>
            <a:rect r="r" b="b" t="t" l="l"/>
            <a:pathLst>
              <a:path h="1769815" w="1642707">
                <a:moveTo>
                  <a:pt x="0" y="1769815"/>
                </a:moveTo>
                <a:lnTo>
                  <a:pt x="221227" y="1769815"/>
                </a:lnTo>
                <a:cubicBezTo>
                  <a:pt x="279900" y="1769815"/>
                  <a:pt x="336170" y="1746507"/>
                  <a:pt x="377658" y="1705019"/>
                </a:cubicBezTo>
                <a:cubicBezTo>
                  <a:pt x="419146" y="1663531"/>
                  <a:pt x="442454" y="1607261"/>
                  <a:pt x="442454" y="1548588"/>
                </a:cubicBezTo>
                <a:lnTo>
                  <a:pt x="442454" y="228600"/>
                </a:lnTo>
                <a:cubicBezTo>
                  <a:pt x="442454" y="167971"/>
                  <a:pt x="466538" y="109825"/>
                  <a:pt x="509409" y="66955"/>
                </a:cubicBezTo>
                <a:cubicBezTo>
                  <a:pt x="552280" y="24084"/>
                  <a:pt x="610425" y="0"/>
                  <a:pt x="671054" y="0"/>
                </a:cubicBezTo>
                <a:lnTo>
                  <a:pt x="1642708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9" id="59"/>
          <p:cNvSpPr/>
          <p:nvPr/>
        </p:nvSpPr>
        <p:spPr>
          <a:xfrm>
            <a:off x="9549195" y="3899913"/>
            <a:ext cx="0" cy="6043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11458293" y="5942822"/>
            <a:ext cx="1468433" cy="2040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1" id="61"/>
          <p:cNvSpPr/>
          <p:nvPr/>
        </p:nvSpPr>
        <p:spPr>
          <a:xfrm>
            <a:off x="2077751" y="5935247"/>
            <a:ext cx="11092057" cy="3702725"/>
          </a:xfrm>
          <a:custGeom>
            <a:avLst/>
            <a:gdLst/>
            <a:ahLst/>
            <a:cxnLst/>
            <a:rect r="r" b="b" t="t" l="l"/>
            <a:pathLst>
              <a:path h="3702725" w="11092057">
                <a:moveTo>
                  <a:pt x="11092058" y="3702724"/>
                </a:moveTo>
                <a:lnTo>
                  <a:pt x="5774629" y="3702724"/>
                </a:lnTo>
                <a:cubicBezTo>
                  <a:pt x="5714000" y="3702724"/>
                  <a:pt x="5655854" y="3678640"/>
                  <a:pt x="5612984" y="3635769"/>
                </a:cubicBezTo>
                <a:cubicBezTo>
                  <a:pt x="5570113" y="3592899"/>
                  <a:pt x="5546029" y="3534753"/>
                  <a:pt x="5546029" y="3474124"/>
                </a:cubicBezTo>
                <a:lnTo>
                  <a:pt x="5546029" y="228600"/>
                </a:lnTo>
                <a:cubicBezTo>
                  <a:pt x="5546029" y="167971"/>
                  <a:pt x="5521944" y="109826"/>
                  <a:pt x="5479073" y="66955"/>
                </a:cubicBezTo>
                <a:cubicBezTo>
                  <a:pt x="5436203" y="24084"/>
                  <a:pt x="5378057" y="0"/>
                  <a:pt x="5317429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4069270" y="2108653"/>
            <a:ext cx="2680850" cy="1347263"/>
          </a:xfrm>
          <a:custGeom>
            <a:avLst/>
            <a:gdLst/>
            <a:ahLst/>
            <a:cxnLst/>
            <a:rect r="r" b="b" t="t" l="l"/>
            <a:pathLst>
              <a:path h="1347263" w="2680850">
                <a:moveTo>
                  <a:pt x="0" y="0"/>
                </a:moveTo>
                <a:lnTo>
                  <a:pt x="2680850" y="0"/>
                </a:lnTo>
                <a:lnTo>
                  <a:pt x="2680850" y="1347263"/>
                </a:lnTo>
                <a:lnTo>
                  <a:pt x="0" y="1347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6930" r="-19709" b="-111272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4533164" y="7007214"/>
            <a:ext cx="4433913" cy="43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b="true" sz="2781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ESP 32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552166" y="-3434"/>
            <a:ext cx="11688425" cy="124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5"/>
              </a:lnSpc>
              <a:spcBef>
                <a:spcPct val="0"/>
              </a:spcBef>
            </a:pPr>
            <a:r>
              <a:rPr lang="en-US" b="true" sz="6532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FIELD MONITORING NODE 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18654" y="1516161"/>
            <a:ext cx="253153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SOLAR POWER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21771" y="2726656"/>
            <a:ext cx="194238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TP4056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8351" y="3938039"/>
            <a:ext cx="244922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LiPO BATTERY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6663" y="5291412"/>
            <a:ext cx="3655516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TI BOOST CONVERTER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771964" y="1696919"/>
            <a:ext cx="2150285" cy="68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b="true" sz="2138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PRESSURE TRANSMITTER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357114" y="7726071"/>
            <a:ext cx="7683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+5V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182350" y="7572653"/>
            <a:ext cx="2392429" cy="1867167"/>
            <a:chOff x="0" y="0"/>
            <a:chExt cx="630105" cy="4917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0105" cy="491764"/>
            </a:xfrm>
            <a:custGeom>
              <a:avLst/>
              <a:gdLst/>
              <a:ahLst/>
              <a:cxnLst/>
              <a:rect r="r" b="b" t="t" l="l"/>
              <a:pathLst>
                <a:path h="491764" w="630105">
                  <a:moveTo>
                    <a:pt x="55012" y="0"/>
                  </a:moveTo>
                  <a:lnTo>
                    <a:pt x="575092" y="0"/>
                  </a:lnTo>
                  <a:cubicBezTo>
                    <a:pt x="589683" y="0"/>
                    <a:pt x="603675" y="5796"/>
                    <a:pt x="613992" y="16113"/>
                  </a:cubicBezTo>
                  <a:cubicBezTo>
                    <a:pt x="624309" y="26429"/>
                    <a:pt x="630105" y="40422"/>
                    <a:pt x="630105" y="55012"/>
                  </a:cubicBezTo>
                  <a:lnTo>
                    <a:pt x="630105" y="436752"/>
                  </a:lnTo>
                  <a:cubicBezTo>
                    <a:pt x="630105" y="451342"/>
                    <a:pt x="624309" y="465335"/>
                    <a:pt x="613992" y="475651"/>
                  </a:cubicBezTo>
                  <a:cubicBezTo>
                    <a:pt x="603675" y="485968"/>
                    <a:pt x="589683" y="491764"/>
                    <a:pt x="575092" y="491764"/>
                  </a:cubicBezTo>
                  <a:lnTo>
                    <a:pt x="55012" y="491764"/>
                  </a:lnTo>
                  <a:cubicBezTo>
                    <a:pt x="40422" y="491764"/>
                    <a:pt x="26429" y="485968"/>
                    <a:pt x="16113" y="475651"/>
                  </a:cubicBezTo>
                  <a:cubicBezTo>
                    <a:pt x="5796" y="465335"/>
                    <a:pt x="0" y="451342"/>
                    <a:pt x="0" y="436752"/>
                  </a:cubicBezTo>
                  <a:lnTo>
                    <a:pt x="0" y="55012"/>
                  </a:lnTo>
                  <a:cubicBezTo>
                    <a:pt x="0" y="40422"/>
                    <a:pt x="5796" y="26429"/>
                    <a:pt x="16113" y="16113"/>
                  </a:cubicBezTo>
                  <a:cubicBezTo>
                    <a:pt x="26429" y="5796"/>
                    <a:pt x="40422" y="0"/>
                    <a:pt x="55012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630105" cy="57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8331133" y="7982990"/>
            <a:ext cx="2094863" cy="1208390"/>
          </a:xfrm>
          <a:custGeom>
            <a:avLst/>
            <a:gdLst/>
            <a:ahLst/>
            <a:cxnLst/>
            <a:rect r="r" b="b" t="t" l="l"/>
            <a:pathLst>
              <a:path h="1208390" w="2094863">
                <a:moveTo>
                  <a:pt x="0" y="0"/>
                </a:moveTo>
                <a:lnTo>
                  <a:pt x="2094863" y="0"/>
                </a:lnTo>
                <a:lnTo>
                  <a:pt x="2094863" y="1208390"/>
                </a:lnTo>
                <a:lnTo>
                  <a:pt x="0" y="1208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8053755" y="7601228"/>
            <a:ext cx="2649617" cy="27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Temperature sensor</a:t>
            </a:r>
          </a:p>
        </p:txBody>
      </p:sp>
      <p:sp>
        <p:nvSpPr>
          <p:cNvPr name="Freeform 76" id="76"/>
          <p:cNvSpPr/>
          <p:nvPr/>
        </p:nvSpPr>
        <p:spPr>
          <a:xfrm>
            <a:off x="12496910" y="3665900"/>
            <a:ext cx="512028" cy="1545009"/>
          </a:xfrm>
          <a:custGeom>
            <a:avLst/>
            <a:gdLst/>
            <a:ahLst/>
            <a:cxnLst/>
            <a:rect r="r" b="b" t="t" l="l"/>
            <a:pathLst>
              <a:path h="1545009" w="512028">
                <a:moveTo>
                  <a:pt x="0" y="0"/>
                </a:moveTo>
                <a:lnTo>
                  <a:pt x="0" y="543904"/>
                </a:lnTo>
                <a:cubicBezTo>
                  <a:pt x="0" y="604533"/>
                  <a:pt x="24085" y="662678"/>
                  <a:pt x="66956" y="705549"/>
                </a:cubicBezTo>
                <a:cubicBezTo>
                  <a:pt x="109826" y="748420"/>
                  <a:pt x="167971" y="772504"/>
                  <a:pt x="228600" y="772504"/>
                </a:cubicBezTo>
                <a:lnTo>
                  <a:pt x="283428" y="772504"/>
                </a:lnTo>
                <a:cubicBezTo>
                  <a:pt x="344057" y="772504"/>
                  <a:pt x="402202" y="796589"/>
                  <a:pt x="445072" y="839459"/>
                </a:cubicBezTo>
                <a:cubicBezTo>
                  <a:pt x="487943" y="882331"/>
                  <a:pt x="512028" y="940476"/>
                  <a:pt x="512028" y="1001104"/>
                </a:cubicBezTo>
                <a:lnTo>
                  <a:pt x="512028" y="154500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7" id="77"/>
          <p:cNvSpPr/>
          <p:nvPr/>
        </p:nvSpPr>
        <p:spPr>
          <a:xfrm>
            <a:off x="15908934" y="3607490"/>
            <a:ext cx="429977" cy="2300547"/>
          </a:xfrm>
          <a:custGeom>
            <a:avLst/>
            <a:gdLst/>
            <a:ahLst/>
            <a:cxnLst/>
            <a:rect r="r" b="b" t="t" l="l"/>
            <a:pathLst>
              <a:path h="2300547" w="429977">
                <a:moveTo>
                  <a:pt x="429977" y="0"/>
                </a:moveTo>
                <a:lnTo>
                  <a:pt x="429977" y="935285"/>
                </a:lnTo>
                <a:cubicBezTo>
                  <a:pt x="429977" y="1054020"/>
                  <a:pt x="333724" y="1150273"/>
                  <a:pt x="214989" y="1150273"/>
                </a:cubicBezTo>
                <a:lnTo>
                  <a:pt x="214989" y="1150273"/>
                </a:lnTo>
                <a:cubicBezTo>
                  <a:pt x="96253" y="1150273"/>
                  <a:pt x="0" y="1246527"/>
                  <a:pt x="0" y="1365262"/>
                </a:cubicBezTo>
                <a:lnTo>
                  <a:pt x="0" y="230054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10703499" y="8258760"/>
            <a:ext cx="21487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9" id="79"/>
          <p:cNvGrpSpPr/>
          <p:nvPr/>
        </p:nvGrpSpPr>
        <p:grpSpPr>
          <a:xfrm rot="-5400000">
            <a:off x="684775" y="5068203"/>
            <a:ext cx="7561610" cy="818584"/>
            <a:chOff x="0" y="0"/>
            <a:chExt cx="1991535" cy="2155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91535" cy="215594"/>
            </a:xfrm>
            <a:custGeom>
              <a:avLst/>
              <a:gdLst/>
              <a:ahLst/>
              <a:cxnLst/>
              <a:rect r="r" b="b" t="t" l="l"/>
              <a:pathLst>
                <a:path h="215594" w="1991535">
                  <a:moveTo>
                    <a:pt x="17405" y="0"/>
                  </a:moveTo>
                  <a:lnTo>
                    <a:pt x="1974130" y="0"/>
                  </a:lnTo>
                  <a:cubicBezTo>
                    <a:pt x="1983743" y="0"/>
                    <a:pt x="1991535" y="7793"/>
                    <a:pt x="1991535" y="17405"/>
                  </a:cubicBezTo>
                  <a:lnTo>
                    <a:pt x="1991535" y="198189"/>
                  </a:lnTo>
                  <a:cubicBezTo>
                    <a:pt x="1991535" y="207802"/>
                    <a:pt x="1983743" y="215594"/>
                    <a:pt x="1974130" y="215594"/>
                  </a:cubicBezTo>
                  <a:lnTo>
                    <a:pt x="17405" y="215594"/>
                  </a:lnTo>
                  <a:cubicBezTo>
                    <a:pt x="7793" y="215594"/>
                    <a:pt x="0" y="207802"/>
                    <a:pt x="0" y="198189"/>
                  </a:cubicBezTo>
                  <a:lnTo>
                    <a:pt x="0" y="17405"/>
                  </a:lnTo>
                  <a:cubicBezTo>
                    <a:pt x="0" y="7793"/>
                    <a:pt x="7793" y="0"/>
                    <a:pt x="17405" y="0"/>
                  </a:cubicBezTo>
                  <a:close/>
                </a:path>
              </a:pathLst>
            </a:custGeom>
            <a:solidFill>
              <a:srgbClr val="E2D4B0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85725"/>
              <a:ext cx="1991535" cy="301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4190088" y="1819592"/>
            <a:ext cx="443102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SENSOR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ARRAY</a:t>
            </a:r>
          </a:p>
        </p:txBody>
      </p:sp>
      <p:sp>
        <p:nvSpPr>
          <p:cNvPr name="Freeform 83" id="83"/>
          <p:cNvSpPr/>
          <p:nvPr/>
        </p:nvSpPr>
        <p:spPr>
          <a:xfrm>
            <a:off x="2640929" y="6015036"/>
            <a:ext cx="1283950" cy="657585"/>
          </a:xfrm>
          <a:custGeom>
            <a:avLst/>
            <a:gdLst/>
            <a:ahLst/>
            <a:cxnLst/>
            <a:rect r="r" b="b" t="t" l="l"/>
            <a:pathLst>
              <a:path h="657585" w="1283950">
                <a:moveTo>
                  <a:pt x="1283949" y="657585"/>
                </a:moveTo>
                <a:lnTo>
                  <a:pt x="870574" y="657585"/>
                </a:lnTo>
                <a:cubicBezTo>
                  <a:pt x="809946" y="657585"/>
                  <a:pt x="751800" y="633500"/>
                  <a:pt x="708929" y="590629"/>
                </a:cubicBezTo>
                <a:cubicBezTo>
                  <a:pt x="666059" y="547759"/>
                  <a:pt x="641974" y="489613"/>
                  <a:pt x="641974" y="428985"/>
                </a:cubicBezTo>
                <a:lnTo>
                  <a:pt x="641974" y="228600"/>
                </a:lnTo>
                <a:cubicBezTo>
                  <a:pt x="641974" y="167971"/>
                  <a:pt x="617890" y="109826"/>
                  <a:pt x="575019" y="66955"/>
                </a:cubicBezTo>
                <a:cubicBezTo>
                  <a:pt x="532148" y="24084"/>
                  <a:pt x="474003" y="0"/>
                  <a:pt x="413374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81" y="502981"/>
            <a:ext cx="13298885" cy="8859397"/>
          </a:xfrm>
          <a:custGeom>
            <a:avLst/>
            <a:gdLst/>
            <a:ahLst/>
            <a:cxnLst/>
            <a:rect r="r" b="b" t="t" l="l"/>
            <a:pathLst>
              <a:path h="8859397" w="13298885">
                <a:moveTo>
                  <a:pt x="0" y="0"/>
                </a:moveTo>
                <a:lnTo>
                  <a:pt x="13298885" y="0"/>
                </a:lnTo>
                <a:lnTo>
                  <a:pt x="13298885" y="8859396"/>
                </a:lnTo>
                <a:lnTo>
                  <a:pt x="0" y="885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60" r="-20744" b="-63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0215" y="3201433"/>
            <a:ext cx="1501236" cy="1572252"/>
            <a:chOff x="0" y="0"/>
            <a:chExt cx="395387" cy="414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387" cy="414091"/>
            </a:xfrm>
            <a:custGeom>
              <a:avLst/>
              <a:gdLst/>
              <a:ahLst/>
              <a:cxnLst/>
              <a:rect r="r" b="b" t="t" l="l"/>
              <a:pathLst>
                <a:path h="414091" w="395387">
                  <a:moveTo>
                    <a:pt x="0" y="0"/>
                  </a:moveTo>
                  <a:lnTo>
                    <a:pt x="395387" y="0"/>
                  </a:lnTo>
                  <a:lnTo>
                    <a:pt x="395387" y="414091"/>
                  </a:lnTo>
                  <a:lnTo>
                    <a:pt x="0" y="414091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95387" cy="49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88206" y="1490277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1197" y="3378775"/>
            <a:ext cx="2006504" cy="1217568"/>
            <a:chOff x="0" y="0"/>
            <a:chExt cx="528462" cy="320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78277" y="3436098"/>
            <a:ext cx="2006504" cy="1217568"/>
            <a:chOff x="0" y="0"/>
            <a:chExt cx="528462" cy="320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766491" y="3295881"/>
            <a:ext cx="1548685" cy="1498001"/>
          </a:xfrm>
          <a:custGeom>
            <a:avLst/>
            <a:gdLst/>
            <a:ahLst/>
            <a:cxnLst/>
            <a:rect r="r" b="b" t="t" l="l"/>
            <a:pathLst>
              <a:path h="1498001" w="1548685">
                <a:moveTo>
                  <a:pt x="0" y="0"/>
                </a:moveTo>
                <a:lnTo>
                  <a:pt x="1548685" y="0"/>
                </a:lnTo>
                <a:lnTo>
                  <a:pt x="1548685" y="1498001"/>
                </a:lnTo>
                <a:lnTo>
                  <a:pt x="0" y="149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32788" y="1584725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985687" y="3201433"/>
            <a:ext cx="1757660" cy="3529192"/>
            <a:chOff x="0" y="0"/>
            <a:chExt cx="462923" cy="929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923" cy="929499"/>
            </a:xfrm>
            <a:custGeom>
              <a:avLst/>
              <a:gdLst/>
              <a:ahLst/>
              <a:cxnLst/>
              <a:rect r="r" b="b" t="t" l="l"/>
              <a:pathLst>
                <a:path h="929499" w="462923">
                  <a:moveTo>
                    <a:pt x="0" y="0"/>
                  </a:moveTo>
                  <a:lnTo>
                    <a:pt x="462923" y="0"/>
                  </a:lnTo>
                  <a:lnTo>
                    <a:pt x="462923" y="929499"/>
                  </a:lnTo>
                  <a:lnTo>
                    <a:pt x="0" y="929499"/>
                  </a:lnTo>
                  <a:close/>
                </a:path>
              </a:pathLst>
            </a:custGeom>
            <a:solidFill>
              <a:srgbClr val="D6C8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462923" cy="101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OVERHEAD TANK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4481" y="4548119"/>
            <a:ext cx="1341186" cy="13411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Water Source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(river)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81197" y="3388473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0291" y="3494019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660" y="1499625"/>
            <a:ext cx="2982660" cy="825373"/>
            <a:chOff x="0" y="0"/>
            <a:chExt cx="843147" cy="233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9660" y="2706597"/>
            <a:ext cx="2982660" cy="825373"/>
            <a:chOff x="0" y="0"/>
            <a:chExt cx="843147" cy="233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660" y="3917979"/>
            <a:ext cx="2982660" cy="825373"/>
            <a:chOff x="0" y="0"/>
            <a:chExt cx="843147" cy="233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3147" cy="233319"/>
            </a:xfrm>
            <a:custGeom>
              <a:avLst/>
              <a:gdLst/>
              <a:ahLst/>
              <a:cxnLst/>
              <a:rect r="r" b="b" t="t" l="l"/>
              <a:pathLst>
                <a:path h="233319" w="843147">
                  <a:moveTo>
                    <a:pt x="44126" y="0"/>
                  </a:moveTo>
                  <a:lnTo>
                    <a:pt x="799021" y="0"/>
                  </a:lnTo>
                  <a:cubicBezTo>
                    <a:pt x="823391" y="0"/>
                    <a:pt x="843147" y="19756"/>
                    <a:pt x="843147" y="44126"/>
                  </a:cubicBezTo>
                  <a:lnTo>
                    <a:pt x="843147" y="189193"/>
                  </a:lnTo>
                  <a:cubicBezTo>
                    <a:pt x="843147" y="213563"/>
                    <a:pt x="823391" y="233319"/>
                    <a:pt x="799021" y="233319"/>
                  </a:cubicBezTo>
                  <a:lnTo>
                    <a:pt x="44126" y="233319"/>
                  </a:lnTo>
                  <a:cubicBezTo>
                    <a:pt x="19756" y="233319"/>
                    <a:pt x="0" y="213563"/>
                    <a:pt x="0" y="189193"/>
                  </a:cubicBezTo>
                  <a:lnTo>
                    <a:pt x="0" y="44126"/>
                  </a:lnTo>
                  <a:cubicBezTo>
                    <a:pt x="0" y="19756"/>
                    <a:pt x="19756" y="0"/>
                    <a:pt x="441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43147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8651" y="5271353"/>
            <a:ext cx="3694254" cy="825373"/>
            <a:chOff x="0" y="0"/>
            <a:chExt cx="1044302" cy="233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302" cy="233319"/>
            </a:xfrm>
            <a:custGeom>
              <a:avLst/>
              <a:gdLst/>
              <a:ahLst/>
              <a:cxnLst/>
              <a:rect r="r" b="b" t="t" l="l"/>
              <a:pathLst>
                <a:path h="233319" w="1044302">
                  <a:moveTo>
                    <a:pt x="35626" y="0"/>
                  </a:moveTo>
                  <a:lnTo>
                    <a:pt x="1008676" y="0"/>
                  </a:lnTo>
                  <a:cubicBezTo>
                    <a:pt x="1028352" y="0"/>
                    <a:pt x="1044302" y="15950"/>
                    <a:pt x="1044302" y="35626"/>
                  </a:cubicBezTo>
                  <a:lnTo>
                    <a:pt x="1044302" y="197692"/>
                  </a:lnTo>
                  <a:cubicBezTo>
                    <a:pt x="1044302" y="207141"/>
                    <a:pt x="1040549" y="216203"/>
                    <a:pt x="1033868" y="222884"/>
                  </a:cubicBezTo>
                  <a:cubicBezTo>
                    <a:pt x="1027187" y="229565"/>
                    <a:pt x="1018125" y="233319"/>
                    <a:pt x="1008676" y="233319"/>
                  </a:cubicBezTo>
                  <a:lnTo>
                    <a:pt x="35626" y="233319"/>
                  </a:lnTo>
                  <a:cubicBezTo>
                    <a:pt x="26178" y="233319"/>
                    <a:pt x="17116" y="229565"/>
                    <a:pt x="10435" y="222884"/>
                  </a:cubicBezTo>
                  <a:cubicBezTo>
                    <a:pt x="3753" y="216203"/>
                    <a:pt x="0" y="207141"/>
                    <a:pt x="0" y="197692"/>
                  </a:cubicBezTo>
                  <a:lnTo>
                    <a:pt x="0" y="35626"/>
                  </a:lnTo>
                  <a:cubicBezTo>
                    <a:pt x="0" y="26178"/>
                    <a:pt x="3753" y="17116"/>
                    <a:pt x="10435" y="10435"/>
                  </a:cubicBezTo>
                  <a:cubicBezTo>
                    <a:pt x="17116" y="3753"/>
                    <a:pt x="26178" y="0"/>
                    <a:pt x="356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044302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849573" y="3636369"/>
            <a:ext cx="449959" cy="212708"/>
          </a:xfrm>
          <a:custGeom>
            <a:avLst/>
            <a:gdLst/>
            <a:ahLst/>
            <a:cxnLst/>
            <a:rect r="r" b="b" t="t" l="l"/>
            <a:pathLst>
              <a:path h="212708" w="449959">
                <a:moveTo>
                  <a:pt x="0" y="0"/>
                </a:moveTo>
                <a:lnTo>
                  <a:pt x="449959" y="0"/>
                </a:lnTo>
                <a:lnTo>
                  <a:pt x="449959" y="212708"/>
                </a:lnTo>
                <a:lnTo>
                  <a:pt x="0" y="212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964262" y="2422329"/>
            <a:ext cx="400141" cy="189157"/>
          </a:xfrm>
          <a:custGeom>
            <a:avLst/>
            <a:gdLst/>
            <a:ahLst/>
            <a:cxnLst/>
            <a:rect r="r" b="b" t="t" l="l"/>
            <a:pathLst>
              <a:path h="189157" w="400141">
                <a:moveTo>
                  <a:pt x="0" y="0"/>
                </a:moveTo>
                <a:lnTo>
                  <a:pt x="400141" y="0"/>
                </a:lnTo>
                <a:lnTo>
                  <a:pt x="400141" y="189158"/>
                </a:lnTo>
                <a:lnTo>
                  <a:pt x="0" y="18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832608" y="4845049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0" y="0"/>
                </a:lnTo>
                <a:lnTo>
                  <a:pt x="578930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29354">
            <a:off x="12838175" y="8051240"/>
            <a:ext cx="3056298" cy="1941969"/>
            <a:chOff x="0" y="0"/>
            <a:chExt cx="804951" cy="5114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951" cy="511465"/>
            </a:xfrm>
            <a:custGeom>
              <a:avLst/>
              <a:gdLst/>
              <a:ahLst/>
              <a:cxnLst/>
              <a:rect r="r" b="b" t="t" l="l"/>
              <a:pathLst>
                <a:path h="511465" w="804951">
                  <a:moveTo>
                    <a:pt x="43063" y="0"/>
                  </a:moveTo>
                  <a:lnTo>
                    <a:pt x="761888" y="0"/>
                  </a:lnTo>
                  <a:cubicBezTo>
                    <a:pt x="773309" y="0"/>
                    <a:pt x="784262" y="4537"/>
                    <a:pt x="792338" y="12613"/>
                  </a:cubicBezTo>
                  <a:cubicBezTo>
                    <a:pt x="800414" y="20689"/>
                    <a:pt x="804951" y="31642"/>
                    <a:pt x="804951" y="43063"/>
                  </a:cubicBezTo>
                  <a:lnTo>
                    <a:pt x="804951" y="468402"/>
                  </a:lnTo>
                  <a:cubicBezTo>
                    <a:pt x="804951" y="479823"/>
                    <a:pt x="800414" y="490776"/>
                    <a:pt x="792338" y="498852"/>
                  </a:cubicBezTo>
                  <a:cubicBezTo>
                    <a:pt x="784262" y="506928"/>
                    <a:pt x="773309" y="511465"/>
                    <a:pt x="761888" y="511465"/>
                  </a:cubicBezTo>
                  <a:lnTo>
                    <a:pt x="43063" y="511465"/>
                  </a:lnTo>
                  <a:cubicBezTo>
                    <a:pt x="31642" y="511465"/>
                    <a:pt x="20689" y="506928"/>
                    <a:pt x="12613" y="498852"/>
                  </a:cubicBezTo>
                  <a:cubicBezTo>
                    <a:pt x="4537" y="490776"/>
                    <a:pt x="0" y="479823"/>
                    <a:pt x="0" y="468402"/>
                  </a:cubicBezTo>
                  <a:lnTo>
                    <a:pt x="0" y="43063"/>
                  </a:lnTo>
                  <a:cubicBezTo>
                    <a:pt x="0" y="31642"/>
                    <a:pt x="4537" y="20689"/>
                    <a:pt x="12613" y="12613"/>
                  </a:cubicBezTo>
                  <a:cubicBezTo>
                    <a:pt x="20689" y="4537"/>
                    <a:pt x="31642" y="0"/>
                    <a:pt x="43063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04951" cy="597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44540" y="3169771"/>
            <a:ext cx="2447891" cy="2421366"/>
            <a:chOff x="0" y="0"/>
            <a:chExt cx="644712" cy="6377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4712" cy="637726"/>
            </a:xfrm>
            <a:custGeom>
              <a:avLst/>
              <a:gdLst/>
              <a:ahLst/>
              <a:cxnLst/>
              <a:rect r="r" b="b" t="t" l="l"/>
              <a:pathLst>
                <a:path h="637726" w="644712">
                  <a:moveTo>
                    <a:pt x="53766" y="0"/>
                  </a:moveTo>
                  <a:lnTo>
                    <a:pt x="590946" y="0"/>
                  </a:lnTo>
                  <a:cubicBezTo>
                    <a:pt x="620640" y="0"/>
                    <a:pt x="644712" y="24072"/>
                    <a:pt x="644712" y="53766"/>
                  </a:cubicBezTo>
                  <a:lnTo>
                    <a:pt x="644712" y="583960"/>
                  </a:lnTo>
                  <a:cubicBezTo>
                    <a:pt x="644712" y="598220"/>
                    <a:pt x="639048" y="611895"/>
                    <a:pt x="628964" y="621979"/>
                  </a:cubicBezTo>
                  <a:cubicBezTo>
                    <a:pt x="618881" y="632062"/>
                    <a:pt x="605206" y="637726"/>
                    <a:pt x="590946" y="637726"/>
                  </a:cubicBezTo>
                  <a:lnTo>
                    <a:pt x="53766" y="637726"/>
                  </a:lnTo>
                  <a:cubicBezTo>
                    <a:pt x="24072" y="637726"/>
                    <a:pt x="0" y="613654"/>
                    <a:pt x="0" y="583960"/>
                  </a:cubicBezTo>
                  <a:lnTo>
                    <a:pt x="0" y="53766"/>
                  </a:lnTo>
                  <a:cubicBezTo>
                    <a:pt x="0" y="24072"/>
                    <a:pt x="24072" y="0"/>
                    <a:pt x="5376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44712" cy="723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true" flipV="true" rot="-5400000">
            <a:off x="16140179" y="8571821"/>
            <a:ext cx="1224514" cy="1086478"/>
          </a:xfrm>
          <a:custGeom>
            <a:avLst/>
            <a:gdLst/>
            <a:ahLst/>
            <a:cxnLst/>
            <a:rect r="r" b="b" t="t" l="l"/>
            <a:pathLst>
              <a:path h="1086478" w="1224514">
                <a:moveTo>
                  <a:pt x="1224515" y="1086478"/>
                </a:moveTo>
                <a:lnTo>
                  <a:pt x="0" y="1086478"/>
                </a:lnTo>
                <a:lnTo>
                  <a:pt x="0" y="0"/>
                </a:lnTo>
                <a:lnTo>
                  <a:pt x="1224515" y="0"/>
                </a:lnTo>
                <a:lnTo>
                  <a:pt x="1224515" y="10864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5493622" y="3783847"/>
            <a:ext cx="1349727" cy="2026460"/>
          </a:xfrm>
          <a:custGeom>
            <a:avLst/>
            <a:gdLst/>
            <a:ahLst/>
            <a:cxnLst/>
            <a:rect r="r" b="b" t="t" l="l"/>
            <a:pathLst>
              <a:path h="2026460" w="1349727">
                <a:moveTo>
                  <a:pt x="0" y="0"/>
                </a:moveTo>
                <a:lnTo>
                  <a:pt x="1349728" y="0"/>
                </a:lnTo>
                <a:lnTo>
                  <a:pt x="1349728" y="2026460"/>
                </a:lnTo>
                <a:lnTo>
                  <a:pt x="0" y="2026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464406" y="3204538"/>
            <a:ext cx="2273094" cy="2470656"/>
            <a:chOff x="0" y="0"/>
            <a:chExt cx="598675" cy="6507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8675" cy="650708"/>
            </a:xfrm>
            <a:custGeom>
              <a:avLst/>
              <a:gdLst/>
              <a:ahLst/>
              <a:cxnLst/>
              <a:rect r="r" b="b" t="t" l="l"/>
              <a:pathLst>
                <a:path h="650708" w="598675">
                  <a:moveTo>
                    <a:pt x="57900" y="0"/>
                  </a:moveTo>
                  <a:lnTo>
                    <a:pt x="540775" y="0"/>
                  </a:lnTo>
                  <a:cubicBezTo>
                    <a:pt x="572752" y="0"/>
                    <a:pt x="598675" y="25923"/>
                    <a:pt x="598675" y="57900"/>
                  </a:cubicBezTo>
                  <a:lnTo>
                    <a:pt x="598675" y="592808"/>
                  </a:lnTo>
                  <a:cubicBezTo>
                    <a:pt x="598675" y="608164"/>
                    <a:pt x="592575" y="622891"/>
                    <a:pt x="581716" y="633749"/>
                  </a:cubicBezTo>
                  <a:cubicBezTo>
                    <a:pt x="570858" y="644608"/>
                    <a:pt x="556131" y="650708"/>
                    <a:pt x="540775" y="650708"/>
                  </a:cubicBezTo>
                  <a:lnTo>
                    <a:pt x="57900" y="650708"/>
                  </a:lnTo>
                  <a:cubicBezTo>
                    <a:pt x="25923" y="650708"/>
                    <a:pt x="0" y="624785"/>
                    <a:pt x="0" y="592808"/>
                  </a:cubicBezTo>
                  <a:lnTo>
                    <a:pt x="0" y="57900"/>
                  </a:lnTo>
                  <a:cubicBezTo>
                    <a:pt x="0" y="25923"/>
                    <a:pt x="25923" y="0"/>
                    <a:pt x="57900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98675" cy="73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702159" y="3805232"/>
            <a:ext cx="1916156" cy="1772623"/>
          </a:xfrm>
          <a:custGeom>
            <a:avLst/>
            <a:gdLst/>
            <a:ahLst/>
            <a:cxnLst/>
            <a:rect r="r" b="b" t="t" l="l"/>
            <a:pathLst>
              <a:path h="1772623" w="1916156">
                <a:moveTo>
                  <a:pt x="0" y="0"/>
                </a:moveTo>
                <a:lnTo>
                  <a:pt x="1916155" y="0"/>
                </a:lnTo>
                <a:lnTo>
                  <a:pt x="1916155" y="1772623"/>
                </a:lnTo>
                <a:lnTo>
                  <a:pt x="0" y="17726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594551" y="1748433"/>
            <a:ext cx="2899997" cy="5126956"/>
          </a:xfrm>
          <a:custGeom>
            <a:avLst/>
            <a:gdLst/>
            <a:ahLst/>
            <a:cxnLst/>
            <a:rect r="r" b="b" t="t" l="l"/>
            <a:pathLst>
              <a:path h="5126956" w="2899997">
                <a:moveTo>
                  <a:pt x="0" y="0"/>
                </a:moveTo>
                <a:lnTo>
                  <a:pt x="2899996" y="0"/>
                </a:lnTo>
                <a:lnTo>
                  <a:pt x="2899996" y="5126957"/>
                </a:lnTo>
                <a:lnTo>
                  <a:pt x="0" y="5126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29354">
            <a:off x="14572289" y="6715175"/>
            <a:ext cx="4433913" cy="43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b="true" sz="2781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ESP 32</a:t>
            </a:r>
          </a:p>
        </p:txBody>
      </p:sp>
      <p:sp>
        <p:nvSpPr>
          <p:cNvPr name="AutoShape 31" id="31"/>
          <p:cNvSpPr/>
          <p:nvPr/>
        </p:nvSpPr>
        <p:spPr>
          <a:xfrm>
            <a:off x="7452561" y="4542764"/>
            <a:ext cx="10118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0737500" y="4672493"/>
            <a:ext cx="17606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V="true">
            <a:off x="3992905" y="5846644"/>
            <a:ext cx="86016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3013231" y="8502803"/>
            <a:ext cx="2680850" cy="1347263"/>
          </a:xfrm>
          <a:custGeom>
            <a:avLst/>
            <a:gdLst/>
            <a:ahLst/>
            <a:cxnLst/>
            <a:rect r="r" b="b" t="t" l="l"/>
            <a:pathLst>
              <a:path h="1347263" w="2680850">
                <a:moveTo>
                  <a:pt x="0" y="0"/>
                </a:moveTo>
                <a:lnTo>
                  <a:pt x="2680851" y="0"/>
                </a:lnTo>
                <a:lnTo>
                  <a:pt x="2680851" y="1347263"/>
                </a:lnTo>
                <a:lnTo>
                  <a:pt x="0" y="13472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900" t="-24615" r="-10808" b="-113587"/>
            </a:stretch>
          </a:blipFill>
        </p:spPr>
      </p:sp>
      <p:sp>
        <p:nvSpPr>
          <p:cNvPr name="AutoShape 35" id="35"/>
          <p:cNvSpPr/>
          <p:nvPr/>
        </p:nvSpPr>
        <p:spPr>
          <a:xfrm flipH="true">
            <a:off x="14537533" y="6752848"/>
            <a:ext cx="70018" cy="1296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760505" y="6643406"/>
            <a:ext cx="4251836" cy="3362816"/>
          </a:xfrm>
          <a:custGeom>
            <a:avLst/>
            <a:gdLst/>
            <a:ahLst/>
            <a:cxnLst/>
            <a:rect r="r" b="b" t="t" l="l"/>
            <a:pathLst>
              <a:path h="3362816" w="4251836">
                <a:moveTo>
                  <a:pt x="0" y="0"/>
                </a:moveTo>
                <a:lnTo>
                  <a:pt x="4251836" y="0"/>
                </a:lnTo>
                <a:lnTo>
                  <a:pt x="4251836" y="3362816"/>
                </a:lnTo>
                <a:lnTo>
                  <a:pt x="0" y="3362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498116" y="8091069"/>
            <a:ext cx="3711082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LORAWAN SX1286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17783" y="158045"/>
            <a:ext cx="6893245" cy="124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5"/>
              </a:lnSpc>
              <a:spcBef>
                <a:spcPct val="0"/>
              </a:spcBef>
            </a:pPr>
            <a:r>
              <a:rPr lang="en-US" b="true" sz="6532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JUNCTION NODE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6681" y="1677640"/>
            <a:ext cx="253153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SOLAR POWER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9798" y="2888135"/>
            <a:ext cx="194238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TP4056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6378" y="4099518"/>
            <a:ext cx="2449225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LiPO BATTERY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6272" y="5452891"/>
            <a:ext cx="3392352" cy="44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BOOST CONVERTER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31431" y="3289861"/>
            <a:ext cx="2150285" cy="68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b="true" sz="2138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PRESSURE TRANSMITTER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28550" y="3185488"/>
            <a:ext cx="3711082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24 BIT ADC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26873" y="6030050"/>
            <a:ext cx="7683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+5V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527184" y="7067596"/>
            <a:ext cx="2565379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Connecting houses with same pressure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55530" y="6722799"/>
            <a:ext cx="3694254" cy="825373"/>
            <a:chOff x="0" y="0"/>
            <a:chExt cx="1044302" cy="2333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4302" cy="233319"/>
            </a:xfrm>
            <a:custGeom>
              <a:avLst/>
              <a:gdLst/>
              <a:ahLst/>
              <a:cxnLst/>
              <a:rect r="r" b="b" t="t" l="l"/>
              <a:pathLst>
                <a:path h="233319" w="1044302">
                  <a:moveTo>
                    <a:pt x="35626" y="0"/>
                  </a:moveTo>
                  <a:lnTo>
                    <a:pt x="1008676" y="0"/>
                  </a:lnTo>
                  <a:cubicBezTo>
                    <a:pt x="1028352" y="0"/>
                    <a:pt x="1044302" y="15950"/>
                    <a:pt x="1044302" y="35626"/>
                  </a:cubicBezTo>
                  <a:lnTo>
                    <a:pt x="1044302" y="197692"/>
                  </a:lnTo>
                  <a:cubicBezTo>
                    <a:pt x="1044302" y="207141"/>
                    <a:pt x="1040549" y="216203"/>
                    <a:pt x="1033868" y="222884"/>
                  </a:cubicBezTo>
                  <a:cubicBezTo>
                    <a:pt x="1027187" y="229565"/>
                    <a:pt x="1018125" y="233319"/>
                    <a:pt x="1008676" y="233319"/>
                  </a:cubicBezTo>
                  <a:lnTo>
                    <a:pt x="35626" y="233319"/>
                  </a:lnTo>
                  <a:cubicBezTo>
                    <a:pt x="26178" y="233319"/>
                    <a:pt x="17116" y="229565"/>
                    <a:pt x="10435" y="222884"/>
                  </a:cubicBezTo>
                  <a:cubicBezTo>
                    <a:pt x="3753" y="216203"/>
                    <a:pt x="0" y="207141"/>
                    <a:pt x="0" y="197692"/>
                  </a:cubicBezTo>
                  <a:lnTo>
                    <a:pt x="0" y="35626"/>
                  </a:lnTo>
                  <a:cubicBezTo>
                    <a:pt x="0" y="26178"/>
                    <a:pt x="3753" y="17116"/>
                    <a:pt x="10435" y="10435"/>
                  </a:cubicBezTo>
                  <a:cubicBezTo>
                    <a:pt x="17116" y="3753"/>
                    <a:pt x="26178" y="0"/>
                    <a:pt x="35626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1044302" cy="31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564184" y="6855506"/>
            <a:ext cx="369425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SENSOR ARRAY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5400000">
            <a:off x="2113192" y="6401189"/>
            <a:ext cx="578930" cy="273676"/>
          </a:xfrm>
          <a:custGeom>
            <a:avLst/>
            <a:gdLst/>
            <a:ahLst/>
            <a:cxnLst/>
            <a:rect r="r" b="b" t="t" l="l"/>
            <a:pathLst>
              <a:path h="273676" w="578930">
                <a:moveTo>
                  <a:pt x="0" y="0"/>
                </a:moveTo>
                <a:lnTo>
                  <a:pt x="578931" y="0"/>
                </a:lnTo>
                <a:lnTo>
                  <a:pt x="578931" y="273676"/>
                </a:lnTo>
                <a:lnTo>
                  <a:pt x="0" y="27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383779" y="6538027"/>
            <a:ext cx="1705255" cy="2185253"/>
          </a:xfrm>
          <a:custGeom>
            <a:avLst/>
            <a:gdLst/>
            <a:ahLst/>
            <a:cxnLst/>
            <a:rect r="r" b="b" t="t" l="l"/>
            <a:pathLst>
              <a:path h="2185253" w="1705255">
                <a:moveTo>
                  <a:pt x="0" y="0"/>
                </a:moveTo>
                <a:lnTo>
                  <a:pt x="1705255" y="0"/>
                </a:lnTo>
                <a:lnTo>
                  <a:pt x="1705255" y="2185253"/>
                </a:lnTo>
                <a:lnTo>
                  <a:pt x="0" y="2185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937" y="-223162"/>
            <a:ext cx="2170874" cy="11140091"/>
            <a:chOff x="0" y="0"/>
            <a:chExt cx="571753" cy="2934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753" cy="2934016"/>
            </a:xfrm>
            <a:custGeom>
              <a:avLst/>
              <a:gdLst/>
              <a:ahLst/>
              <a:cxnLst/>
              <a:rect r="r" b="b" t="t" l="l"/>
              <a:pathLst>
                <a:path h="2934016" w="571753">
                  <a:moveTo>
                    <a:pt x="0" y="0"/>
                  </a:moveTo>
                  <a:lnTo>
                    <a:pt x="571753" y="0"/>
                  </a:lnTo>
                  <a:lnTo>
                    <a:pt x="571753" y="2934016"/>
                  </a:lnTo>
                  <a:lnTo>
                    <a:pt x="0" y="2934016"/>
                  </a:lnTo>
                  <a:close/>
                </a:path>
              </a:pathLst>
            </a:custGeom>
            <a:solidFill>
              <a:srgbClr val="6760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71753" cy="3019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0139" y="255691"/>
            <a:ext cx="14867861" cy="9775619"/>
          </a:xfrm>
          <a:custGeom>
            <a:avLst/>
            <a:gdLst/>
            <a:ahLst/>
            <a:cxnLst/>
            <a:rect r="r" b="b" t="t" l="l"/>
            <a:pathLst>
              <a:path h="9775619" w="14867861">
                <a:moveTo>
                  <a:pt x="0" y="0"/>
                </a:moveTo>
                <a:lnTo>
                  <a:pt x="14867861" y="0"/>
                </a:lnTo>
                <a:lnTo>
                  <a:pt x="14867861" y="9775618"/>
                </a:lnTo>
                <a:lnTo>
                  <a:pt x="0" y="9775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6031" y="248909"/>
            <a:ext cx="694687" cy="955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</a:t>
            </a:r>
          </a:p>
          <a:p>
            <a:pPr algn="ctr">
              <a:lnSpc>
                <a:spcPts val="8350"/>
              </a:lnSpc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</a:t>
            </a:r>
          </a:p>
          <a:p>
            <a:pPr algn="ctr">
              <a:lnSpc>
                <a:spcPts val="8350"/>
              </a:lnSpc>
              <a:spcBef>
                <a:spcPct val="0"/>
              </a:spcBef>
            </a:pPr>
            <a:r>
              <a:rPr lang="en-US" b="true" sz="5964">
                <a:solidFill>
                  <a:srgbClr val="EAE4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81" y="502981"/>
            <a:ext cx="16057732" cy="9137136"/>
          </a:xfrm>
          <a:custGeom>
            <a:avLst/>
            <a:gdLst/>
            <a:ahLst/>
            <a:cxnLst/>
            <a:rect r="r" b="b" t="t" l="l"/>
            <a:pathLst>
              <a:path h="9137136" w="16057732">
                <a:moveTo>
                  <a:pt x="0" y="0"/>
                </a:moveTo>
                <a:lnTo>
                  <a:pt x="16057732" y="0"/>
                </a:lnTo>
                <a:lnTo>
                  <a:pt x="16057732" y="9137136"/>
                </a:lnTo>
                <a:lnTo>
                  <a:pt x="0" y="913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61" r="0" b="-316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0215" y="3201433"/>
            <a:ext cx="1501236" cy="1572252"/>
            <a:chOff x="0" y="0"/>
            <a:chExt cx="395387" cy="414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387" cy="414091"/>
            </a:xfrm>
            <a:custGeom>
              <a:avLst/>
              <a:gdLst/>
              <a:ahLst/>
              <a:cxnLst/>
              <a:rect r="r" b="b" t="t" l="l"/>
              <a:pathLst>
                <a:path h="414091" w="395387">
                  <a:moveTo>
                    <a:pt x="0" y="0"/>
                  </a:moveTo>
                  <a:lnTo>
                    <a:pt x="395387" y="0"/>
                  </a:lnTo>
                  <a:lnTo>
                    <a:pt x="395387" y="414091"/>
                  </a:lnTo>
                  <a:lnTo>
                    <a:pt x="0" y="414091"/>
                  </a:lnTo>
                  <a:close/>
                </a:path>
              </a:pathLst>
            </a:custGeom>
            <a:solidFill>
              <a:srgbClr val="B6A9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95387" cy="49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88206" y="1490277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1197" y="3378775"/>
            <a:ext cx="2006504" cy="1217568"/>
            <a:chOff x="0" y="0"/>
            <a:chExt cx="528462" cy="3206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78277" y="3436098"/>
            <a:ext cx="2006504" cy="1217568"/>
            <a:chOff x="0" y="0"/>
            <a:chExt cx="528462" cy="320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8462" cy="320676"/>
            </a:xfrm>
            <a:custGeom>
              <a:avLst/>
              <a:gdLst/>
              <a:ahLst/>
              <a:cxnLst/>
              <a:rect r="r" b="b" t="t" l="l"/>
              <a:pathLst>
                <a:path h="320676" w="528462">
                  <a:moveTo>
                    <a:pt x="0" y="0"/>
                  </a:moveTo>
                  <a:lnTo>
                    <a:pt x="528462" y="0"/>
                  </a:lnTo>
                  <a:lnTo>
                    <a:pt x="528462" y="320676"/>
                  </a:lnTo>
                  <a:lnTo>
                    <a:pt x="0" y="320676"/>
                  </a:ln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528462" cy="40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766491" y="3295881"/>
            <a:ext cx="1548685" cy="1498001"/>
          </a:xfrm>
          <a:custGeom>
            <a:avLst/>
            <a:gdLst/>
            <a:ahLst/>
            <a:cxnLst/>
            <a:rect r="r" b="b" t="t" l="l"/>
            <a:pathLst>
              <a:path h="1498001" w="1548685">
                <a:moveTo>
                  <a:pt x="0" y="0"/>
                </a:moveTo>
                <a:lnTo>
                  <a:pt x="1548685" y="0"/>
                </a:lnTo>
                <a:lnTo>
                  <a:pt x="1548685" y="1498001"/>
                </a:lnTo>
                <a:lnTo>
                  <a:pt x="0" y="149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32788" y="1584725"/>
            <a:ext cx="1799495" cy="1711156"/>
          </a:xfrm>
          <a:custGeom>
            <a:avLst/>
            <a:gdLst/>
            <a:ahLst/>
            <a:cxnLst/>
            <a:rect r="r" b="b" t="t" l="l"/>
            <a:pathLst>
              <a:path h="1711156" w="1799495">
                <a:moveTo>
                  <a:pt x="0" y="0"/>
                </a:moveTo>
                <a:lnTo>
                  <a:pt x="1799495" y="0"/>
                </a:lnTo>
                <a:lnTo>
                  <a:pt x="1799495" y="1711156"/>
                </a:lnTo>
                <a:lnTo>
                  <a:pt x="0" y="171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985687" y="3201433"/>
            <a:ext cx="1757660" cy="3529192"/>
            <a:chOff x="0" y="0"/>
            <a:chExt cx="462923" cy="929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923" cy="929499"/>
            </a:xfrm>
            <a:custGeom>
              <a:avLst/>
              <a:gdLst/>
              <a:ahLst/>
              <a:cxnLst/>
              <a:rect r="r" b="b" t="t" l="l"/>
              <a:pathLst>
                <a:path h="929499" w="462923">
                  <a:moveTo>
                    <a:pt x="0" y="0"/>
                  </a:moveTo>
                  <a:lnTo>
                    <a:pt x="462923" y="0"/>
                  </a:lnTo>
                  <a:lnTo>
                    <a:pt x="462923" y="929499"/>
                  </a:lnTo>
                  <a:lnTo>
                    <a:pt x="0" y="929499"/>
                  </a:lnTo>
                  <a:close/>
                </a:path>
              </a:pathLst>
            </a:custGeom>
            <a:solidFill>
              <a:srgbClr val="D6C8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462923" cy="101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OVERHEAD TANK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4481" y="4548119"/>
            <a:ext cx="1341186" cy="13411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Water Source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(river)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81197" y="3388473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0291" y="3494019"/>
            <a:ext cx="210448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 MONITORING NODE 2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9282" y="1622635"/>
            <a:ext cx="4668690" cy="212213"/>
          </a:xfrm>
          <a:custGeom>
            <a:avLst/>
            <a:gdLst/>
            <a:ahLst/>
            <a:cxnLst/>
            <a:rect r="r" b="b" t="t" l="l"/>
            <a:pathLst>
              <a:path h="212213" w="4668690">
                <a:moveTo>
                  <a:pt x="0" y="0"/>
                </a:moveTo>
                <a:lnTo>
                  <a:pt x="4668690" y="0"/>
                </a:lnTo>
                <a:lnTo>
                  <a:pt x="4668690" y="212213"/>
                </a:lnTo>
                <a:lnTo>
                  <a:pt x="0" y="212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470" y="2407210"/>
            <a:ext cx="4926725" cy="3396686"/>
          </a:xfrm>
          <a:custGeom>
            <a:avLst/>
            <a:gdLst/>
            <a:ahLst/>
            <a:cxnLst/>
            <a:rect r="r" b="b" t="t" l="l"/>
            <a:pathLst>
              <a:path h="3396686" w="4926725">
                <a:moveTo>
                  <a:pt x="0" y="0"/>
                </a:moveTo>
                <a:lnTo>
                  <a:pt x="4926725" y="0"/>
                </a:lnTo>
                <a:lnTo>
                  <a:pt x="4926725" y="3396686"/>
                </a:lnTo>
                <a:lnTo>
                  <a:pt x="0" y="3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31251" y="17368"/>
            <a:ext cx="6574281" cy="171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6"/>
              </a:lnSpc>
              <a:spcBef>
                <a:spcPct val="0"/>
              </a:spcBef>
            </a:pPr>
            <a:r>
              <a:rPr lang="en-US" sz="7776" spc="7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TI COMPONENTS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672" y="6280146"/>
            <a:ext cx="3718322" cy="92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ADS</a:t>
            </a: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122C04 24-bit ADC 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chip module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20142" y="2047061"/>
            <a:ext cx="4547830" cy="4692303"/>
            <a:chOff x="0" y="0"/>
            <a:chExt cx="6063774" cy="6256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62730" y="0"/>
              <a:ext cx="3738314" cy="5352585"/>
            </a:xfrm>
            <a:custGeom>
              <a:avLst/>
              <a:gdLst/>
              <a:ahLst/>
              <a:cxnLst/>
              <a:rect r="r" b="b" t="t" l="l"/>
              <a:pathLst>
                <a:path h="5352585" w="3738314">
                  <a:moveTo>
                    <a:pt x="0" y="0"/>
                  </a:moveTo>
                  <a:lnTo>
                    <a:pt x="3738314" y="0"/>
                  </a:lnTo>
                  <a:lnTo>
                    <a:pt x="3738314" y="5352585"/>
                  </a:lnTo>
                  <a:lnTo>
                    <a:pt x="0" y="5352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611" t="-4963" r="-8954" b="-71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650746"/>
              <a:ext cx="6063774" cy="605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3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TI TPS61023 Boost Converter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919" y="2407210"/>
            <a:ext cx="5181081" cy="4383426"/>
            <a:chOff x="0" y="0"/>
            <a:chExt cx="6908108" cy="58445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08108" cy="4940750"/>
            </a:xfrm>
            <a:custGeom>
              <a:avLst/>
              <a:gdLst/>
              <a:ahLst/>
              <a:cxnLst/>
              <a:rect r="r" b="b" t="t" l="l"/>
              <a:pathLst>
                <a:path h="4940750" w="6908108">
                  <a:moveTo>
                    <a:pt x="0" y="0"/>
                  </a:moveTo>
                  <a:lnTo>
                    <a:pt x="6908108" y="0"/>
                  </a:lnTo>
                  <a:lnTo>
                    <a:pt x="6908108" y="4940750"/>
                  </a:lnTo>
                  <a:lnTo>
                    <a:pt x="0" y="494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238911"/>
              <a:ext cx="6549390" cy="605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3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TI LM35DZ Temperature Sensor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25520" y="7682126"/>
            <a:ext cx="5584627" cy="13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High 24 bit Res</a:t>
            </a: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olution Precision</a:t>
            </a:r>
          </a:p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built-in low-noise PGA</a:t>
            </a:r>
          </a:p>
          <a:p>
            <a:pPr algn="l">
              <a:lnSpc>
                <a:spcPts val="357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845000" y="7682126"/>
            <a:ext cx="4746784" cy="18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Achieves up to 94% power </a:t>
            </a:r>
          </a:p>
          <a:p>
            <a:pPr algn="l">
              <a:lnSpc>
                <a:spcPts val="3575"/>
              </a:lnSpc>
            </a:pPr>
            <a:r>
              <a:rPr lang="en-US" sz="25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    conversion efficiency</a:t>
            </a:r>
          </a:p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Allows for Ultra-Low Input </a:t>
            </a:r>
          </a:p>
          <a:p>
            <a:pPr algn="l">
              <a:lnSpc>
                <a:spcPts val="3575"/>
              </a:lnSpc>
            </a:pPr>
            <a:r>
              <a:rPr lang="en-US" sz="25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     </a:t>
            </a:r>
            <a:r>
              <a:rPr lang="en-US" sz="25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Voltage (0.5V)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6919" y="7682126"/>
            <a:ext cx="5181081" cy="13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Direct Celsius Calibration</a:t>
            </a:r>
          </a:p>
          <a:p>
            <a:pPr algn="l" marL="551392" indent="-275696" lvl="1">
              <a:lnSpc>
                <a:spcPts val="3575"/>
              </a:lnSpc>
              <a:buFont typeface="Arial"/>
              <a:buChar char="•"/>
            </a:pPr>
            <a:r>
              <a:rPr lang="en-US" b="true" sz="2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Draws only 60 µA, Minimal Self-Heating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6427573" y="2047061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363297" y="1924214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1006094" y="3206668"/>
            <a:ext cx="641735" cy="1791645"/>
          </a:xfrm>
          <a:custGeom>
            <a:avLst/>
            <a:gdLst/>
            <a:ahLst/>
            <a:cxnLst/>
            <a:rect r="r" b="b" t="t" l="l"/>
            <a:pathLst>
              <a:path h="1791645" w="641735">
                <a:moveTo>
                  <a:pt x="0" y="0"/>
                </a:moveTo>
                <a:lnTo>
                  <a:pt x="641734" y="0"/>
                </a:lnTo>
                <a:lnTo>
                  <a:pt x="641734" y="1791645"/>
                </a:lnTo>
                <a:lnTo>
                  <a:pt x="0" y="179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5904407" y="5460769"/>
            <a:ext cx="822994" cy="2297700"/>
          </a:xfrm>
          <a:custGeom>
            <a:avLst/>
            <a:gdLst/>
            <a:ahLst/>
            <a:cxnLst/>
            <a:rect r="r" b="b" t="t" l="l"/>
            <a:pathLst>
              <a:path h="2297700" w="822994">
                <a:moveTo>
                  <a:pt x="0" y="0"/>
                </a:moveTo>
                <a:lnTo>
                  <a:pt x="822995" y="0"/>
                </a:lnTo>
                <a:lnTo>
                  <a:pt x="822995" y="2297700"/>
                </a:lnTo>
                <a:lnTo>
                  <a:pt x="0" y="229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6482384" y="2841017"/>
            <a:ext cx="834595" cy="2330088"/>
          </a:xfrm>
          <a:custGeom>
            <a:avLst/>
            <a:gdLst/>
            <a:ahLst/>
            <a:cxnLst/>
            <a:rect r="r" b="b" t="t" l="l"/>
            <a:pathLst>
              <a:path h="2330088" w="834595">
                <a:moveTo>
                  <a:pt x="0" y="2330088"/>
                </a:moveTo>
                <a:lnTo>
                  <a:pt x="834595" y="2330088"/>
                </a:lnTo>
                <a:lnTo>
                  <a:pt x="834595" y="0"/>
                </a:lnTo>
                <a:lnTo>
                  <a:pt x="0" y="0"/>
                </a:lnTo>
                <a:lnTo>
                  <a:pt x="0" y="233008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5400000">
            <a:off x="11168491" y="5460769"/>
            <a:ext cx="822994" cy="2297700"/>
          </a:xfrm>
          <a:custGeom>
            <a:avLst/>
            <a:gdLst/>
            <a:ahLst/>
            <a:cxnLst/>
            <a:rect r="r" b="b" t="t" l="l"/>
            <a:pathLst>
              <a:path h="2297700" w="822994">
                <a:moveTo>
                  <a:pt x="0" y="2297700"/>
                </a:moveTo>
                <a:lnTo>
                  <a:pt x="822995" y="2297700"/>
                </a:lnTo>
                <a:lnTo>
                  <a:pt x="822995" y="0"/>
                </a:lnTo>
                <a:lnTo>
                  <a:pt x="0" y="0"/>
                </a:lnTo>
                <a:lnTo>
                  <a:pt x="0" y="22977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78336" y="4096986"/>
            <a:ext cx="5131327" cy="204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sz="6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Core features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8724568" y="3669899"/>
            <a:ext cx="838865" cy="223450"/>
          </a:xfrm>
          <a:custGeom>
            <a:avLst/>
            <a:gdLst/>
            <a:ahLst/>
            <a:cxnLst/>
            <a:rect r="r" b="b" t="t" l="l"/>
            <a:pathLst>
              <a:path h="223450" w="838865">
                <a:moveTo>
                  <a:pt x="0" y="0"/>
                </a:moveTo>
                <a:lnTo>
                  <a:pt x="838864" y="0"/>
                </a:lnTo>
                <a:lnTo>
                  <a:pt x="838864" y="223450"/>
                </a:lnTo>
                <a:lnTo>
                  <a:pt x="0" y="223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5448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8724568" y="6396681"/>
            <a:ext cx="838865" cy="223450"/>
          </a:xfrm>
          <a:custGeom>
            <a:avLst/>
            <a:gdLst/>
            <a:ahLst/>
            <a:cxnLst/>
            <a:rect r="r" b="b" t="t" l="l"/>
            <a:pathLst>
              <a:path h="223450" w="838865">
                <a:moveTo>
                  <a:pt x="838864" y="0"/>
                </a:moveTo>
                <a:lnTo>
                  <a:pt x="0" y="0"/>
                </a:lnTo>
                <a:lnTo>
                  <a:pt x="0" y="223450"/>
                </a:lnTo>
                <a:lnTo>
                  <a:pt x="838864" y="223450"/>
                </a:lnTo>
                <a:lnTo>
                  <a:pt x="83886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544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9122" y="1204621"/>
            <a:ext cx="4742750" cy="2017824"/>
          </a:xfrm>
          <a:custGeom>
            <a:avLst/>
            <a:gdLst/>
            <a:ahLst/>
            <a:cxnLst/>
            <a:rect r="r" b="b" t="t" l="l"/>
            <a:pathLst>
              <a:path h="2017824" w="4742750">
                <a:moveTo>
                  <a:pt x="0" y="0"/>
                </a:moveTo>
                <a:lnTo>
                  <a:pt x="4742749" y="0"/>
                </a:lnTo>
                <a:lnTo>
                  <a:pt x="4742749" y="2017824"/>
                </a:lnTo>
                <a:lnTo>
                  <a:pt x="0" y="20178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30725"/>
            <a:ext cx="3578608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9"/>
              </a:lnSpc>
            </a:pPr>
            <a:r>
              <a:rPr lang="en-US" sz="2499" spc="3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Wat</a:t>
            </a:r>
            <a:r>
              <a:rPr lang="en-US" sz="2499" spc="3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er Quality Diagnostics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627" y="1337962"/>
            <a:ext cx="3828325" cy="171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078" indent="-213039" lvl="1">
              <a:lnSpc>
                <a:spcPts val="2762"/>
              </a:lnSpc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</a:t>
            </a:r>
            <a:r>
              <a:rPr lang="en-US" sz="197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ecks </a:t>
            </a:r>
            <a:r>
              <a:rPr lang="en-US" b="true" sz="197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turbidity,</a:t>
            </a:r>
            <a:r>
              <a:rPr lang="en-US" sz="197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b="true" sz="197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pH, chlorine, and E. coli </a:t>
            </a:r>
          </a:p>
          <a:p>
            <a:pPr algn="l" marL="426078" indent="-213039" lvl="1">
              <a:lnSpc>
                <a:spcPts val="2762"/>
              </a:lnSpc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Any threshold breach triggers an immediate </a:t>
            </a:r>
            <a:r>
              <a:rPr lang="en-US" b="true" sz="197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SMS alert</a:t>
            </a:r>
            <a:r>
              <a:rPr lang="en-US" sz="197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to the operator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61681" y="7783329"/>
            <a:ext cx="4668968" cy="1986434"/>
          </a:xfrm>
          <a:custGeom>
            <a:avLst/>
            <a:gdLst/>
            <a:ahLst/>
            <a:cxnLst/>
            <a:rect r="r" b="b" t="t" l="l"/>
            <a:pathLst>
              <a:path h="1986434" w="4668968">
                <a:moveTo>
                  <a:pt x="0" y="0"/>
                </a:moveTo>
                <a:lnTo>
                  <a:pt x="4668968" y="0"/>
                </a:lnTo>
                <a:lnTo>
                  <a:pt x="4668968" y="1986434"/>
                </a:lnTo>
                <a:lnTo>
                  <a:pt x="0" y="19864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261128" y="6986745"/>
            <a:ext cx="3578608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9"/>
              </a:lnSpc>
            </a:pPr>
            <a:r>
              <a:rPr lang="en-US" sz="2499" spc="3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Post-Filt</a:t>
            </a:r>
            <a:r>
              <a:rPr lang="en-US" sz="2499" spc="3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ration Isolation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1410" y="7779620"/>
            <a:ext cx="3582498" cy="199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763" indent="-204881" lvl="1">
              <a:lnSpc>
                <a:spcPts val="2657"/>
              </a:lnSpc>
              <a:buFont typeface="Arial"/>
              <a:buChar char="•"/>
            </a:pPr>
            <a:r>
              <a:rPr lang="en-US" sz="18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Node1 placed directlly after filtration tank as a </a:t>
            </a:r>
            <a:r>
              <a:rPr lang="en-US" b="true" sz="189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critical fail safe </a:t>
            </a:r>
          </a:p>
          <a:p>
            <a:pPr algn="l" marL="409763" indent="-204881" lvl="1">
              <a:lnSpc>
                <a:spcPts val="2657"/>
              </a:lnSpc>
              <a:buFont typeface="Arial"/>
              <a:buChar char="•"/>
            </a:pPr>
            <a:r>
              <a:rPr lang="en-US" sz="18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Catch </a:t>
            </a:r>
            <a:r>
              <a:rPr lang="en-US" b="true" sz="189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filtration failures </a:t>
            </a:r>
            <a:r>
              <a:rPr lang="en-US" sz="18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instantly before water reaches storage 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0737165" y="5288617"/>
            <a:ext cx="2510156" cy="44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5167054" y="5143500"/>
            <a:ext cx="2137399" cy="130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43709" y="1027640"/>
            <a:ext cx="3893574" cy="176981"/>
          </a:xfrm>
          <a:custGeom>
            <a:avLst/>
            <a:gdLst/>
            <a:ahLst/>
            <a:cxnLst/>
            <a:rect r="r" b="b" t="t" l="l"/>
            <a:pathLst>
              <a:path h="176981" w="3893574">
                <a:moveTo>
                  <a:pt x="0" y="0"/>
                </a:moveTo>
                <a:lnTo>
                  <a:pt x="3893575" y="0"/>
                </a:lnTo>
                <a:lnTo>
                  <a:pt x="3893575" y="176981"/>
                </a:lnTo>
                <a:lnTo>
                  <a:pt x="0" y="176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899681" y="348103"/>
            <a:ext cx="4781030" cy="2728338"/>
            <a:chOff x="0" y="0"/>
            <a:chExt cx="6374706" cy="36377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925637"/>
              <a:ext cx="6374706" cy="2712148"/>
            </a:xfrm>
            <a:custGeom>
              <a:avLst/>
              <a:gdLst/>
              <a:ahLst/>
              <a:cxnLst/>
              <a:rect r="r" b="b" t="t" l="l"/>
              <a:pathLst>
                <a:path h="2712148" w="6374706">
                  <a:moveTo>
                    <a:pt x="0" y="0"/>
                  </a:moveTo>
                  <a:lnTo>
                    <a:pt x="6374706" y="0"/>
                  </a:lnTo>
                  <a:lnTo>
                    <a:pt x="6374706" y="2712147"/>
                  </a:lnTo>
                  <a:lnTo>
                    <a:pt x="0" y="2712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770609" y="-38100"/>
              <a:ext cx="4905459" cy="541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9"/>
                </a:lnSpc>
              </a:pP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Distributi</a:t>
              </a: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on Parity Check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7151" y="1233251"/>
              <a:ext cx="5871686" cy="2195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4952" indent="-207476" lvl="1">
                <a:lnSpc>
                  <a:spcPts val="2690"/>
                </a:lnSpc>
                <a:buFont typeface="Arial"/>
                <a:buChar char="•"/>
              </a:pPr>
              <a:r>
                <a:rPr lang="en-US" sz="192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Track the </a:t>
              </a:r>
              <a:r>
                <a:rPr lang="en-US" b="true" sz="192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water volume between OHT node and junction node</a:t>
              </a:r>
              <a:r>
                <a:rPr lang="en-US" sz="192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against a calculated </a:t>
              </a:r>
              <a:r>
                <a:rPr lang="en-US" b="true" sz="192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threshold</a:t>
              </a:r>
            </a:p>
            <a:p>
              <a:pPr algn="l" marL="414952" indent="-207476" lvl="1">
                <a:lnSpc>
                  <a:spcPts val="2690"/>
                </a:lnSpc>
                <a:buFont typeface="Arial"/>
                <a:buChar char="•"/>
              </a:pPr>
              <a:r>
                <a:rPr lang="en-US" sz="192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Threshold accounts for the exact no of houses connected to a junction 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770609" y="527700"/>
              <a:ext cx="5191432" cy="235974"/>
            </a:xfrm>
            <a:custGeom>
              <a:avLst/>
              <a:gdLst/>
              <a:ahLst/>
              <a:cxnLst/>
              <a:rect r="r" b="b" t="t" l="l"/>
              <a:pathLst>
                <a:path h="235974" w="5191432">
                  <a:moveTo>
                    <a:pt x="0" y="0"/>
                  </a:moveTo>
                  <a:lnTo>
                    <a:pt x="5191432" y="0"/>
                  </a:lnTo>
                  <a:lnTo>
                    <a:pt x="5191432" y="235974"/>
                  </a:lnTo>
                  <a:lnTo>
                    <a:pt x="0" y="23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11814" y="3781624"/>
            <a:ext cx="5076186" cy="3351210"/>
            <a:chOff x="0" y="0"/>
            <a:chExt cx="6768248" cy="44682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1588699"/>
              <a:ext cx="6768248" cy="2879582"/>
            </a:xfrm>
            <a:custGeom>
              <a:avLst/>
              <a:gdLst/>
              <a:ahLst/>
              <a:cxnLst/>
              <a:rect r="r" b="b" t="t" l="l"/>
              <a:pathLst>
                <a:path h="2879582" w="6768248">
                  <a:moveTo>
                    <a:pt x="0" y="0"/>
                  </a:moveTo>
                  <a:lnTo>
                    <a:pt x="6768248" y="0"/>
                  </a:lnTo>
                  <a:lnTo>
                    <a:pt x="6768248" y="2879582"/>
                  </a:lnTo>
                  <a:lnTo>
                    <a:pt x="0" y="2879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848469" y="-38100"/>
              <a:ext cx="4792599" cy="10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9"/>
                </a:lnSpc>
              </a:pP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Lea</a:t>
              </a: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kage &amp; Blockage Detection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1750" y="1625903"/>
              <a:ext cx="5538865" cy="2640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Identifies a burst when the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 flow rate difference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between 2 nodes drops by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 more than 15%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Detects blockage if water from OHT fails to reach junction node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10 mins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691309" y="1122422"/>
              <a:ext cx="5191432" cy="235974"/>
            </a:xfrm>
            <a:custGeom>
              <a:avLst/>
              <a:gdLst/>
              <a:ahLst/>
              <a:cxnLst/>
              <a:rect r="r" b="b" t="t" l="l"/>
              <a:pathLst>
                <a:path h="235974" w="5191432">
                  <a:moveTo>
                    <a:pt x="0" y="0"/>
                  </a:moveTo>
                  <a:lnTo>
                    <a:pt x="5191432" y="0"/>
                  </a:lnTo>
                  <a:lnTo>
                    <a:pt x="5191432" y="235974"/>
                  </a:lnTo>
                  <a:lnTo>
                    <a:pt x="0" y="23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219326" y="668825"/>
            <a:ext cx="5427332" cy="2833279"/>
            <a:chOff x="0" y="0"/>
            <a:chExt cx="7236443" cy="37777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862385"/>
              <a:ext cx="6852248" cy="2915320"/>
            </a:xfrm>
            <a:custGeom>
              <a:avLst/>
              <a:gdLst/>
              <a:ahLst/>
              <a:cxnLst/>
              <a:rect r="r" b="b" t="t" l="l"/>
              <a:pathLst>
                <a:path h="2915320" w="6852248">
                  <a:moveTo>
                    <a:pt x="0" y="0"/>
                  </a:moveTo>
                  <a:lnTo>
                    <a:pt x="6852248" y="0"/>
                  </a:lnTo>
                  <a:lnTo>
                    <a:pt x="6852248" y="2915320"/>
                  </a:lnTo>
                  <a:lnTo>
                    <a:pt x="0" y="2915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890725" y="-38100"/>
              <a:ext cx="4792599" cy="541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9"/>
                </a:lnSpc>
              </a:pP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Int</a:t>
              </a: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ermittent Supply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25978" y="1119182"/>
              <a:ext cx="6910465" cy="2196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Monitors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Supply Windows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Can differentiate between non supply window and actual issue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Saves Power through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deep sleep mode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during scheduled non supply window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672697" y="569309"/>
              <a:ext cx="5191432" cy="235974"/>
            </a:xfrm>
            <a:custGeom>
              <a:avLst/>
              <a:gdLst/>
              <a:ahLst/>
              <a:cxnLst/>
              <a:rect r="r" b="b" t="t" l="l"/>
              <a:pathLst>
                <a:path h="235974" w="5191432">
                  <a:moveTo>
                    <a:pt x="0" y="0"/>
                  </a:moveTo>
                  <a:lnTo>
                    <a:pt x="5191432" y="0"/>
                  </a:lnTo>
                  <a:lnTo>
                    <a:pt x="5191432" y="235974"/>
                  </a:lnTo>
                  <a:lnTo>
                    <a:pt x="0" y="23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728839" y="7213758"/>
            <a:ext cx="5090368" cy="3257488"/>
            <a:chOff x="0" y="0"/>
            <a:chExt cx="6787158" cy="43433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1207264"/>
              <a:ext cx="6495256" cy="2763436"/>
            </a:xfrm>
            <a:custGeom>
              <a:avLst/>
              <a:gdLst/>
              <a:ahLst/>
              <a:cxnLst/>
              <a:rect r="r" b="b" t="t" l="l"/>
              <a:pathLst>
                <a:path h="2763436" w="6495256">
                  <a:moveTo>
                    <a:pt x="0" y="0"/>
                  </a:moveTo>
                  <a:lnTo>
                    <a:pt x="6495256" y="0"/>
                  </a:lnTo>
                  <a:lnTo>
                    <a:pt x="6495256" y="2763436"/>
                  </a:lnTo>
                  <a:lnTo>
                    <a:pt x="0" y="2763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329636" y="-38100"/>
              <a:ext cx="5594440" cy="10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9"/>
                </a:lnSpc>
              </a:pP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Post-Supply L</a:t>
              </a:r>
              <a:r>
                <a:rPr lang="en-US" sz="2499" spc="32" strike="noStrike" u="none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eakage &amp; Flushing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42222" y="1258064"/>
              <a:ext cx="6644936" cy="3085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Detects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zero pipeline pressure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during off hours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Prevents contaminated water from being sucked into cracks via vacuums 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Executes a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2-minute pipeline flush 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to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     clear next supply cycle</a:t>
              </a:r>
            </a:p>
            <a:p>
              <a:pPr algn="l">
                <a:lnSpc>
                  <a:spcPts val="2659"/>
                </a:lnSpc>
              </a:pP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444044" y="971290"/>
              <a:ext cx="5191432" cy="235974"/>
            </a:xfrm>
            <a:custGeom>
              <a:avLst/>
              <a:gdLst/>
              <a:ahLst/>
              <a:cxnLst/>
              <a:rect r="r" b="b" t="t" l="l"/>
              <a:pathLst>
                <a:path h="235974" w="5191432">
                  <a:moveTo>
                    <a:pt x="0" y="0"/>
                  </a:moveTo>
                  <a:lnTo>
                    <a:pt x="5191432" y="0"/>
                  </a:lnTo>
                  <a:lnTo>
                    <a:pt x="5191432" y="235974"/>
                  </a:lnTo>
                  <a:lnTo>
                    <a:pt x="0" y="23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1149378" y="7463759"/>
            <a:ext cx="3893574" cy="176981"/>
          </a:xfrm>
          <a:custGeom>
            <a:avLst/>
            <a:gdLst/>
            <a:ahLst/>
            <a:cxnLst/>
            <a:rect r="r" b="b" t="t" l="l"/>
            <a:pathLst>
              <a:path h="176981" w="3893574">
                <a:moveTo>
                  <a:pt x="0" y="0"/>
                </a:moveTo>
                <a:lnTo>
                  <a:pt x="3893574" y="0"/>
                </a:lnTo>
                <a:lnTo>
                  <a:pt x="3893574" y="176981"/>
                </a:lnTo>
                <a:lnTo>
                  <a:pt x="0" y="176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6987" y="4402486"/>
            <a:ext cx="4742750" cy="2017824"/>
          </a:xfrm>
          <a:custGeom>
            <a:avLst/>
            <a:gdLst/>
            <a:ahLst/>
            <a:cxnLst/>
            <a:rect r="r" b="b" t="t" l="l"/>
            <a:pathLst>
              <a:path h="2017824" w="4742750">
                <a:moveTo>
                  <a:pt x="0" y="0"/>
                </a:moveTo>
                <a:lnTo>
                  <a:pt x="4742749" y="0"/>
                </a:lnTo>
                <a:lnTo>
                  <a:pt x="4742749" y="2017824"/>
                </a:lnTo>
                <a:lnTo>
                  <a:pt x="0" y="201782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17351" y="3809580"/>
            <a:ext cx="3578608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9"/>
              </a:lnSpc>
            </a:pPr>
            <a:r>
              <a:rPr lang="en-US" sz="2499" spc="3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HYBRID ARCHITECTURE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0954" y="4465977"/>
            <a:ext cx="4114816" cy="186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297" indent="-195648" lvl="1">
              <a:lnSpc>
                <a:spcPts val="2537"/>
              </a:lnSpc>
              <a:buFont typeface="Arial"/>
              <a:buChar char="•"/>
            </a:pPr>
            <a:r>
              <a:rPr lang="en-US" sz="181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Integrates </a:t>
            </a:r>
            <a:r>
              <a:rPr lang="en-US" b="true" sz="181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distributed end-node hardware</a:t>
            </a:r>
            <a:r>
              <a:rPr lang="en-US" sz="181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with </a:t>
            </a:r>
            <a:r>
              <a:rPr lang="en-US" b="true" sz="181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localized edge gateway</a:t>
            </a:r>
            <a:r>
              <a:rPr lang="en-US" sz="181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</a:p>
          <a:p>
            <a:pPr algn="l" marL="391297" indent="-195648" lvl="1">
              <a:lnSpc>
                <a:spcPts val="2537"/>
              </a:lnSpc>
              <a:buFont typeface="Arial"/>
              <a:buChar char="•"/>
            </a:pPr>
            <a:r>
              <a:rPr lang="en-US" sz="181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Delivers</a:t>
            </a:r>
            <a:r>
              <a:rPr lang="en-US" b="true" sz="181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immediate on-site fail-safe actions </a:t>
            </a:r>
            <a:r>
              <a:rPr lang="en-US" sz="181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alongside a high-level </a:t>
            </a:r>
            <a:r>
              <a:rPr lang="en-US" b="true" sz="1812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central network 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521574" y="4225505"/>
            <a:ext cx="3893574" cy="176981"/>
          </a:xfrm>
          <a:custGeom>
            <a:avLst/>
            <a:gdLst/>
            <a:ahLst/>
            <a:cxnLst/>
            <a:rect r="r" b="b" t="t" l="l"/>
            <a:pathLst>
              <a:path h="176981" w="3893574">
                <a:moveTo>
                  <a:pt x="0" y="0"/>
                </a:moveTo>
                <a:lnTo>
                  <a:pt x="3893575" y="0"/>
                </a:lnTo>
                <a:lnTo>
                  <a:pt x="3893575" y="176981"/>
                </a:lnTo>
                <a:lnTo>
                  <a:pt x="0" y="176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815682" y="7213758"/>
            <a:ext cx="4764307" cy="2681787"/>
            <a:chOff x="0" y="0"/>
            <a:chExt cx="6352409" cy="3575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873055"/>
              <a:ext cx="6352409" cy="2702661"/>
            </a:xfrm>
            <a:custGeom>
              <a:avLst/>
              <a:gdLst/>
              <a:ahLst/>
              <a:cxnLst/>
              <a:rect r="r" b="b" t="t" l="l"/>
              <a:pathLst>
                <a:path h="2702661" w="6352409">
                  <a:moveTo>
                    <a:pt x="0" y="0"/>
                  </a:moveTo>
                  <a:lnTo>
                    <a:pt x="6352409" y="0"/>
                  </a:lnTo>
                  <a:lnTo>
                    <a:pt x="6352409" y="2702661"/>
                  </a:lnTo>
                  <a:lnTo>
                    <a:pt x="0" y="270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846153" y="-38100"/>
              <a:ext cx="4792599" cy="541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9"/>
                </a:lnSpc>
              </a:pPr>
              <a:r>
                <a:rPr lang="en-US" sz="2499" spc="32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SCALABILITY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50859" y="1057241"/>
              <a:ext cx="5538865" cy="2196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The solution can be expanded to any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number of houses </a:t>
              </a:r>
            </a:p>
            <a:p>
              <a:pPr algn="l" marL="410208" indent="-205104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Thus, the solution is 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independent</a:t>
              </a:r>
              <a:r>
                <a:rPr lang="en-US" sz="18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 of the number of junction nodes and the</a:t>
              </a:r>
              <a:r>
                <a:rPr lang="en-US" b="true" sz="189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 size of the village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646737" y="554567"/>
              <a:ext cx="5191432" cy="235974"/>
            </a:xfrm>
            <a:custGeom>
              <a:avLst/>
              <a:gdLst/>
              <a:ahLst/>
              <a:cxnLst/>
              <a:rect r="r" b="b" t="t" l="l"/>
              <a:pathLst>
                <a:path h="235974" w="5191432">
                  <a:moveTo>
                    <a:pt x="0" y="0"/>
                  </a:moveTo>
                  <a:lnTo>
                    <a:pt x="5191432" y="0"/>
                  </a:lnTo>
                  <a:lnTo>
                    <a:pt x="5191432" y="235974"/>
                  </a:lnTo>
                  <a:lnTo>
                    <a:pt x="0" y="23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C2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58677" y="74457"/>
            <a:ext cx="5170647" cy="127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3"/>
              </a:lnSpc>
              <a:spcBef>
                <a:spcPct val="0"/>
              </a:spcBef>
            </a:pPr>
            <a:r>
              <a:rPr lang="en-US" b="true" sz="6666">
                <a:solidFill>
                  <a:srgbClr val="554F4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PROTOTYPE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67482" y="1349896"/>
            <a:ext cx="17900913" cy="8424253"/>
            <a:chOff x="0" y="0"/>
            <a:chExt cx="23867884" cy="11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32614" y="0"/>
              <a:ext cx="20005487" cy="11232337"/>
            </a:xfrm>
            <a:custGeom>
              <a:avLst/>
              <a:gdLst/>
              <a:ahLst/>
              <a:cxnLst/>
              <a:rect r="r" b="b" t="t" l="l"/>
              <a:pathLst>
                <a:path h="11232337" w="20005487">
                  <a:moveTo>
                    <a:pt x="0" y="0"/>
                  </a:moveTo>
                  <a:lnTo>
                    <a:pt x="20005487" y="0"/>
                  </a:lnTo>
                  <a:lnTo>
                    <a:pt x="20005487" y="11232337"/>
                  </a:lnTo>
                  <a:lnTo>
                    <a:pt x="0" y="11232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77" t="0" r="-2158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5272176" y="2047636"/>
              <a:ext cx="4078323" cy="3568533"/>
              <a:chOff x="0" y="0"/>
              <a:chExt cx="812800" cy="711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812800" cy="577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GATEWAY NODE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10800000">
              <a:off x="8844380" y="6732520"/>
              <a:ext cx="2316727" cy="2027137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701875" y="4072579"/>
              <a:ext cx="2252709" cy="1971120"/>
              <a:chOff x="0" y="0"/>
              <a:chExt cx="812800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10800000">
              <a:off x="12701875" y="8013097"/>
              <a:ext cx="2326531" cy="2035715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530371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530371" y="551732"/>
                    </a:lnTo>
                    <a:cubicBezTo>
                      <a:pt x="686363" y="551732"/>
                      <a:pt x="812800" y="428220"/>
                      <a:pt x="812800" y="275861"/>
                    </a:cubicBezTo>
                    <a:cubicBezTo>
                      <a:pt x="812811" y="123512"/>
                      <a:pt x="686363" y="0"/>
                      <a:pt x="530371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568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7650838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25485" y="4453195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62397" y="8935704"/>
              <a:ext cx="20005487" cy="604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1F1F1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NODE 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02597" y="-514350"/>
            <a:ext cx="1865798" cy="3086100"/>
            <a:chOff x="0" y="0"/>
            <a:chExt cx="491404" cy="812800"/>
          </a:xfrm>
        </p:grpSpPr>
        <p:sp>
          <p:nvSpPr>
            <p:cNvPr name="Freeform 21" id="21">
              <a:hlinkClick r:id="rId3" tooltip="https://drive.google.com/file/d/1gT7_GV9bV3EkahFCqtlHNj0aKRaJa2Ti/view"/>
            </p:cNvPr>
            <p:cNvSpPr/>
            <p:nvPr/>
          </p:nvSpPr>
          <p:spPr>
            <a:xfrm flipH="false" flipV="false" rot="0">
              <a:off x="0" y="0"/>
              <a:ext cx="491404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04">
                  <a:moveTo>
                    <a:pt x="0" y="0"/>
                  </a:moveTo>
                  <a:lnTo>
                    <a:pt x="491404" y="0"/>
                  </a:lnTo>
                  <a:lnTo>
                    <a:pt x="49140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37A6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491404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395317" y="7715250"/>
            <a:ext cx="1865798" cy="3086100"/>
            <a:chOff x="0" y="0"/>
            <a:chExt cx="491404" cy="812800"/>
          </a:xfrm>
        </p:grpSpPr>
        <p:sp>
          <p:nvSpPr>
            <p:cNvPr name="Freeform 24" id="24">
              <a:hlinkClick r:id="rId4" tooltip="https://drive.google.com/file/d/1gT7_GV9bV3EkahFCqtlHNj0aKRaJa2Ti/view"/>
            </p:cNvPr>
            <p:cNvSpPr/>
            <p:nvPr/>
          </p:nvSpPr>
          <p:spPr>
            <a:xfrm flipH="false" flipV="false" rot="0">
              <a:off x="0" y="0"/>
              <a:ext cx="491404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04">
                  <a:moveTo>
                    <a:pt x="0" y="0"/>
                  </a:moveTo>
                  <a:lnTo>
                    <a:pt x="491404" y="0"/>
                  </a:lnTo>
                  <a:lnTo>
                    <a:pt x="49140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37A6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491404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5684" y="123475"/>
            <a:ext cx="6574281" cy="9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6"/>
              </a:lnSpc>
              <a:spcBef>
                <a:spcPct val="0"/>
              </a:spcBef>
            </a:pPr>
            <a:r>
              <a:rPr lang="en-US" sz="7776" spc="7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COST ESTIMATION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38597" y="922593"/>
            <a:ext cx="4668690" cy="212213"/>
          </a:xfrm>
          <a:custGeom>
            <a:avLst/>
            <a:gdLst/>
            <a:ahLst/>
            <a:cxnLst/>
            <a:rect r="r" b="b" t="t" l="l"/>
            <a:pathLst>
              <a:path h="212213" w="4668690">
                <a:moveTo>
                  <a:pt x="0" y="0"/>
                </a:moveTo>
                <a:lnTo>
                  <a:pt x="4668690" y="0"/>
                </a:lnTo>
                <a:lnTo>
                  <a:pt x="4668690" y="212214"/>
                </a:lnTo>
                <a:lnTo>
                  <a:pt x="0" y="21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4876" y="521727"/>
          <a:ext cx="5080808" cy="5086350"/>
        </p:xfrm>
        <a:graphic>
          <a:graphicData uri="http://schemas.openxmlformats.org/drawingml/2006/table">
            <a:tbl>
              <a:tblPr/>
              <a:tblGrid>
                <a:gridCol w="3666041"/>
                <a:gridCol w="1414767"/>
              </a:tblGrid>
              <a:tr h="7869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NODE BASE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₹3000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9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Water Turbidity 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9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Liquid pH 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9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ORP 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₹7000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TI LM35DZ Temperature 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trike="noStrike" u="none">
                          <a:solidFill>
                            <a:srgbClr val="1F1F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₹250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7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SUB -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F1F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₹11850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0" y="6324480"/>
          <a:ext cx="5080808" cy="3557511"/>
        </p:xfrm>
        <a:graphic>
          <a:graphicData uri="http://schemas.openxmlformats.org/drawingml/2006/table">
            <a:tbl>
              <a:tblPr/>
              <a:tblGrid>
                <a:gridCol w="3680396"/>
                <a:gridCol w="1400413"/>
              </a:tblGrid>
              <a:tr h="81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NODE BASE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₹3000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4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QUALITY SENSORS SAME AS NODE 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₹8850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2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PRESSURE TRANSMITTER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₹1000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SUB -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1F1F1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₹12850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656946" y="2038350"/>
          <a:ext cx="5080808" cy="2438400"/>
        </p:xfrm>
        <a:graphic>
          <a:graphicData uri="http://schemas.openxmlformats.org/drawingml/2006/table">
            <a:tbl>
              <a:tblPr/>
              <a:tblGrid>
                <a:gridCol w="3666041"/>
                <a:gridCol w="1414767"/>
              </a:tblGrid>
              <a:tr h="793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NODE BASE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₹3000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PRESSURE TRANSMITTER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₹1000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kzidenz-Grotesk Bold"/>
                          <a:ea typeface="Akzidenz-Grotesk Bold"/>
                          <a:cs typeface="Akzidenz-Grotesk Bold"/>
                          <a:sym typeface="Akzidenz-Grotesk Bold"/>
                        </a:rPr>
                        <a:t>SUB -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₹4000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5656946" y="5060923"/>
            <a:ext cx="5080808" cy="2527114"/>
            <a:chOff x="0" y="0"/>
            <a:chExt cx="1489835" cy="741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9835" cy="741021"/>
            </a:xfrm>
            <a:custGeom>
              <a:avLst/>
              <a:gdLst/>
              <a:ahLst/>
              <a:cxnLst/>
              <a:rect r="r" b="b" t="t" l="l"/>
              <a:pathLst>
                <a:path h="741021" w="1489835">
                  <a:moveTo>
                    <a:pt x="29761" y="0"/>
                  </a:moveTo>
                  <a:lnTo>
                    <a:pt x="1460074" y="0"/>
                  </a:lnTo>
                  <a:cubicBezTo>
                    <a:pt x="1476511" y="0"/>
                    <a:pt x="1489835" y="13324"/>
                    <a:pt x="1489835" y="29761"/>
                  </a:cubicBezTo>
                  <a:lnTo>
                    <a:pt x="1489835" y="711260"/>
                  </a:lnTo>
                  <a:cubicBezTo>
                    <a:pt x="1489835" y="727696"/>
                    <a:pt x="1476511" y="741021"/>
                    <a:pt x="1460074" y="741021"/>
                  </a:cubicBezTo>
                  <a:lnTo>
                    <a:pt x="29761" y="741021"/>
                  </a:lnTo>
                  <a:cubicBezTo>
                    <a:pt x="13324" y="741021"/>
                    <a:pt x="0" y="727696"/>
                    <a:pt x="0" y="711260"/>
                  </a:cubicBezTo>
                  <a:lnTo>
                    <a:pt x="0" y="29761"/>
                  </a:lnTo>
                  <a:cubicBezTo>
                    <a:pt x="0" y="13324"/>
                    <a:pt x="13324" y="0"/>
                    <a:pt x="29761" y="0"/>
                  </a:cubicBezTo>
                  <a:close/>
                </a:path>
              </a:pathLst>
            </a:custGeom>
            <a:solidFill>
              <a:srgbClr val="DED5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89835" cy="817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56946" y="6770701"/>
            <a:ext cx="2144401" cy="2321694"/>
          </a:xfrm>
          <a:custGeom>
            <a:avLst/>
            <a:gdLst/>
            <a:ahLst/>
            <a:cxnLst/>
            <a:rect r="r" b="b" t="t" l="l"/>
            <a:pathLst>
              <a:path h="2321694" w="2144401">
                <a:moveTo>
                  <a:pt x="0" y="0"/>
                </a:moveTo>
                <a:lnTo>
                  <a:pt x="2144401" y="0"/>
                </a:lnTo>
                <a:lnTo>
                  <a:pt x="2144401" y="2321693"/>
                </a:lnTo>
                <a:lnTo>
                  <a:pt x="0" y="2321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0611" y="5794412"/>
            <a:ext cx="3903657" cy="53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6"/>
              </a:lnSpc>
              <a:spcBef>
                <a:spcPct val="0"/>
              </a:spcBef>
            </a:pPr>
            <a:r>
              <a:rPr lang="en-US" sz="4617" spc="4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NODE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63358" y="5230331"/>
            <a:ext cx="4543929" cy="278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TOTAL COST FOR NODES </a:t>
            </a:r>
          </a:p>
          <a:p>
            <a:pPr algn="l">
              <a:lnSpc>
                <a:spcPts val="3575"/>
              </a:lnSpc>
            </a:pPr>
            <a:r>
              <a:rPr lang="en-US" sz="25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= ₹(11850+12850+4000)</a:t>
            </a:r>
          </a:p>
          <a:p>
            <a:pPr algn="l">
              <a:lnSpc>
                <a:spcPts val="3995"/>
              </a:lnSpc>
            </a:pPr>
            <a:r>
              <a:rPr lang="en-US" sz="285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= ₹28700</a:t>
            </a:r>
          </a:p>
          <a:p>
            <a:pPr algn="l">
              <a:lnSpc>
                <a:spcPts val="3575"/>
              </a:lnSpc>
            </a:pPr>
          </a:p>
          <a:p>
            <a:pPr algn="l">
              <a:lnSpc>
                <a:spcPts val="3575"/>
              </a:lnSpc>
            </a:pPr>
          </a:p>
          <a:p>
            <a:pPr algn="l">
              <a:lnSpc>
                <a:spcPts val="3575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1535912" y="786907"/>
            <a:ext cx="6281025" cy="6455344"/>
            <a:chOff x="0" y="0"/>
            <a:chExt cx="8374700" cy="860712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374700" cy="8607126"/>
              <a:chOff x="0" y="0"/>
              <a:chExt cx="1705501" cy="175283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5501" cy="1752834"/>
              </a:xfrm>
              <a:custGeom>
                <a:avLst/>
                <a:gdLst/>
                <a:ahLst/>
                <a:cxnLst/>
                <a:rect r="r" b="b" t="t" l="l"/>
                <a:pathLst>
                  <a:path h="1752834" w="1705501">
                    <a:moveTo>
                      <a:pt x="24074" y="0"/>
                    </a:moveTo>
                    <a:lnTo>
                      <a:pt x="1681427" y="0"/>
                    </a:lnTo>
                    <a:cubicBezTo>
                      <a:pt x="1694723" y="0"/>
                      <a:pt x="1705501" y="10778"/>
                      <a:pt x="1705501" y="24074"/>
                    </a:cubicBezTo>
                    <a:lnTo>
                      <a:pt x="1705501" y="1728760"/>
                    </a:lnTo>
                    <a:cubicBezTo>
                      <a:pt x="1705501" y="1742056"/>
                      <a:pt x="1694723" y="1752834"/>
                      <a:pt x="1681427" y="1752834"/>
                    </a:cubicBezTo>
                    <a:lnTo>
                      <a:pt x="24074" y="1752834"/>
                    </a:lnTo>
                    <a:cubicBezTo>
                      <a:pt x="10778" y="1752834"/>
                      <a:pt x="0" y="1742056"/>
                      <a:pt x="0" y="1728760"/>
                    </a:cubicBezTo>
                    <a:lnTo>
                      <a:pt x="0" y="24074"/>
                    </a:lnTo>
                    <a:cubicBezTo>
                      <a:pt x="0" y="10778"/>
                      <a:pt x="10778" y="0"/>
                      <a:pt x="24074" y="0"/>
                    </a:cubicBezTo>
                    <a:close/>
                  </a:path>
                </a:pathLst>
              </a:custGeom>
              <a:solidFill>
                <a:srgbClr val="EAE4D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76200"/>
                <a:ext cx="1705501" cy="18290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54078" y="506981"/>
              <a:ext cx="7415357" cy="656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Raspberry Pi 4 (4GB RAM): ₹7,000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5V 3A AC-to-DC Adapter: ₹600</a:t>
              </a: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</a:t>
              </a: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L</a:t>
              </a: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oRaWAN Multi channel SPI Concentrator  Shield (SX1302): ₹7,500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32GB High-Endurance MicroSD Card: ₹1,400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GSM Sim800L Module: ₹300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Antenna: ₹300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3.5 Inch TFT Touch Screen Display: ₹1,150</a:t>
              </a:r>
            </a:p>
            <a:p>
              <a:pPr algn="l" marL="505434" indent="-252717" lvl="1">
                <a:lnSpc>
                  <a:spcPts val="3277"/>
                </a:lnSpc>
                <a:buAutoNum type="arabicPeriod" startAt="1"/>
              </a:pPr>
              <a:r>
                <a:rPr lang="en-US" sz="2341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Backup battery 20000 mAh battery - ₹1300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83210" y="7102146"/>
              <a:ext cx="7279113" cy="1349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TOTAL COST FOR GATEWAY : ₹19550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71670" y="8103235"/>
            <a:ext cx="5332168" cy="1673334"/>
            <a:chOff x="0" y="0"/>
            <a:chExt cx="7109557" cy="223111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135701" cy="2231111"/>
              <a:chOff x="0" y="0"/>
              <a:chExt cx="946867" cy="34430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46867" cy="344307"/>
              </a:xfrm>
              <a:custGeom>
                <a:avLst/>
                <a:gdLst/>
                <a:ahLst/>
                <a:cxnLst/>
                <a:rect r="r" b="b" t="t" l="l"/>
                <a:pathLst>
                  <a:path h="344307" w="946867">
                    <a:moveTo>
                      <a:pt x="32859" y="0"/>
                    </a:moveTo>
                    <a:lnTo>
                      <a:pt x="914009" y="0"/>
                    </a:lnTo>
                    <a:cubicBezTo>
                      <a:pt x="932156" y="0"/>
                      <a:pt x="946867" y="14711"/>
                      <a:pt x="946867" y="32859"/>
                    </a:cubicBezTo>
                    <a:lnTo>
                      <a:pt x="946867" y="311448"/>
                    </a:lnTo>
                    <a:cubicBezTo>
                      <a:pt x="946867" y="329596"/>
                      <a:pt x="932156" y="344307"/>
                      <a:pt x="914009" y="344307"/>
                    </a:cubicBezTo>
                    <a:lnTo>
                      <a:pt x="32859" y="344307"/>
                    </a:lnTo>
                    <a:cubicBezTo>
                      <a:pt x="14711" y="344307"/>
                      <a:pt x="0" y="329596"/>
                      <a:pt x="0" y="311448"/>
                    </a:cubicBezTo>
                    <a:lnTo>
                      <a:pt x="0" y="32859"/>
                    </a:lnTo>
                    <a:cubicBezTo>
                      <a:pt x="0" y="14711"/>
                      <a:pt x="14711" y="0"/>
                      <a:pt x="32859" y="0"/>
                    </a:cubicBezTo>
                    <a:close/>
                  </a:path>
                </a:pathLst>
              </a:custGeom>
              <a:solidFill>
                <a:srgbClr val="B2AC9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76200"/>
                <a:ext cx="946867" cy="420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362729"/>
              <a:ext cx="7109557" cy="143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TOTAL: ₹ (19550 + 28700)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             ₹ 48250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10611" y="18700"/>
            <a:ext cx="3903657" cy="53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6"/>
              </a:lnSpc>
              <a:spcBef>
                <a:spcPct val="0"/>
              </a:spcBef>
            </a:pPr>
            <a:r>
              <a:rPr lang="en-US" sz="4617" spc="4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NODE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45522" y="1508282"/>
            <a:ext cx="3903657" cy="53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6"/>
              </a:lnSpc>
              <a:spcBef>
                <a:spcPct val="0"/>
              </a:spcBef>
            </a:pPr>
            <a:r>
              <a:rPr lang="en-US" sz="4617" spc="4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NODE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1193" y="174768"/>
            <a:ext cx="1651397" cy="61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GATEWAY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818193" cy="2417478"/>
          </a:xfrm>
          <a:custGeom>
            <a:avLst/>
            <a:gdLst/>
            <a:ahLst/>
            <a:cxnLst/>
            <a:rect r="r" b="b" t="t" l="l"/>
            <a:pathLst>
              <a:path h="2417478" w="4818193">
                <a:moveTo>
                  <a:pt x="0" y="0"/>
                </a:moveTo>
                <a:lnTo>
                  <a:pt x="4818193" y="0"/>
                </a:lnTo>
                <a:lnTo>
                  <a:pt x="4818193" y="2417478"/>
                </a:lnTo>
                <a:lnTo>
                  <a:pt x="0" y="2417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899" r="0" b="-148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50792" y="6306718"/>
            <a:ext cx="3827378" cy="2610701"/>
            <a:chOff x="0" y="0"/>
            <a:chExt cx="1008034" cy="687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9637" y="3848418"/>
            <a:ext cx="3509687" cy="4916602"/>
            <a:chOff x="0" y="0"/>
            <a:chExt cx="924362" cy="1294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92956" y="3318933"/>
            <a:ext cx="1543050" cy="15430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3B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04111" y="6306718"/>
            <a:ext cx="3827378" cy="2610701"/>
            <a:chOff x="0" y="0"/>
            <a:chExt cx="1008034" cy="687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A6D3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62956" y="3848418"/>
            <a:ext cx="3509687" cy="4916602"/>
            <a:chOff x="0" y="0"/>
            <a:chExt cx="924362" cy="12949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346275" y="3318933"/>
            <a:ext cx="1543050" cy="15430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3B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76509" y="6306718"/>
            <a:ext cx="3827378" cy="2610701"/>
            <a:chOff x="0" y="0"/>
            <a:chExt cx="1008034" cy="687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8034" cy="687592"/>
            </a:xfrm>
            <a:custGeom>
              <a:avLst/>
              <a:gdLst/>
              <a:ahLst/>
              <a:cxnLst/>
              <a:rect r="r" b="b" t="t" l="l"/>
              <a:pathLst>
                <a:path h="687592" w="1008034">
                  <a:moveTo>
                    <a:pt x="30342" y="0"/>
                  </a:moveTo>
                  <a:lnTo>
                    <a:pt x="977692" y="0"/>
                  </a:lnTo>
                  <a:cubicBezTo>
                    <a:pt x="994449" y="0"/>
                    <a:pt x="1008034" y="13584"/>
                    <a:pt x="1008034" y="30342"/>
                  </a:cubicBezTo>
                  <a:lnTo>
                    <a:pt x="1008034" y="657250"/>
                  </a:lnTo>
                  <a:cubicBezTo>
                    <a:pt x="1008034" y="674008"/>
                    <a:pt x="994449" y="687592"/>
                    <a:pt x="977692" y="687592"/>
                  </a:cubicBezTo>
                  <a:lnTo>
                    <a:pt x="30342" y="687592"/>
                  </a:lnTo>
                  <a:cubicBezTo>
                    <a:pt x="22295" y="687592"/>
                    <a:pt x="14577" y="684395"/>
                    <a:pt x="8887" y="678705"/>
                  </a:cubicBezTo>
                  <a:cubicBezTo>
                    <a:pt x="3197" y="673015"/>
                    <a:pt x="0" y="665298"/>
                    <a:pt x="0" y="657250"/>
                  </a:cubicBezTo>
                  <a:lnTo>
                    <a:pt x="0" y="30342"/>
                  </a:lnTo>
                  <a:cubicBezTo>
                    <a:pt x="0" y="13584"/>
                    <a:pt x="13584" y="0"/>
                    <a:pt x="3034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008034" cy="65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35354" y="3848418"/>
            <a:ext cx="3509687" cy="4916602"/>
            <a:chOff x="0" y="0"/>
            <a:chExt cx="924362" cy="12949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4362" cy="1294907"/>
            </a:xfrm>
            <a:custGeom>
              <a:avLst/>
              <a:gdLst/>
              <a:ahLst/>
              <a:cxnLst/>
              <a:rect r="r" b="b" t="t" l="l"/>
              <a:pathLst>
                <a:path h="1294907" w="924362">
                  <a:moveTo>
                    <a:pt x="33088" y="0"/>
                  </a:moveTo>
                  <a:lnTo>
                    <a:pt x="891274" y="0"/>
                  </a:lnTo>
                  <a:cubicBezTo>
                    <a:pt x="900050" y="0"/>
                    <a:pt x="908466" y="3486"/>
                    <a:pt x="914671" y="9691"/>
                  </a:cubicBezTo>
                  <a:cubicBezTo>
                    <a:pt x="920876" y="15896"/>
                    <a:pt x="924362" y="24313"/>
                    <a:pt x="924362" y="33088"/>
                  </a:cubicBezTo>
                  <a:lnTo>
                    <a:pt x="924362" y="1261819"/>
                  </a:lnTo>
                  <a:cubicBezTo>
                    <a:pt x="924362" y="1270595"/>
                    <a:pt x="920876" y="1279011"/>
                    <a:pt x="914671" y="1285216"/>
                  </a:cubicBezTo>
                  <a:cubicBezTo>
                    <a:pt x="908466" y="1291421"/>
                    <a:pt x="900050" y="1294907"/>
                    <a:pt x="891274" y="1294907"/>
                  </a:cubicBezTo>
                  <a:lnTo>
                    <a:pt x="33088" y="1294907"/>
                  </a:lnTo>
                  <a:cubicBezTo>
                    <a:pt x="14814" y="1294907"/>
                    <a:pt x="0" y="1280093"/>
                    <a:pt x="0" y="1261819"/>
                  </a:cubicBezTo>
                  <a:lnTo>
                    <a:pt x="0" y="33088"/>
                  </a:lnTo>
                  <a:cubicBezTo>
                    <a:pt x="0" y="24313"/>
                    <a:pt x="3486" y="15896"/>
                    <a:pt x="9691" y="9691"/>
                  </a:cubicBezTo>
                  <a:cubicBezTo>
                    <a:pt x="15896" y="3486"/>
                    <a:pt x="24313" y="0"/>
                    <a:pt x="3308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924362" cy="126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18672" y="3318933"/>
            <a:ext cx="1543050" cy="154305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069138" y="568220"/>
            <a:ext cx="1755114" cy="1849258"/>
          </a:xfrm>
          <a:custGeom>
            <a:avLst/>
            <a:gdLst/>
            <a:ahLst/>
            <a:cxnLst/>
            <a:rect r="r" b="b" t="t" l="l"/>
            <a:pathLst>
              <a:path h="1849258" w="1755114">
                <a:moveTo>
                  <a:pt x="0" y="0"/>
                </a:moveTo>
                <a:lnTo>
                  <a:pt x="1755114" y="0"/>
                </a:lnTo>
                <a:lnTo>
                  <a:pt x="1755114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403961" y="3659244"/>
            <a:ext cx="921041" cy="862429"/>
          </a:xfrm>
          <a:custGeom>
            <a:avLst/>
            <a:gdLst/>
            <a:ahLst/>
            <a:cxnLst/>
            <a:rect r="r" b="b" t="t" l="l"/>
            <a:pathLst>
              <a:path h="862429" w="921041">
                <a:moveTo>
                  <a:pt x="0" y="0"/>
                </a:moveTo>
                <a:lnTo>
                  <a:pt x="921040" y="0"/>
                </a:lnTo>
                <a:lnTo>
                  <a:pt x="921040" y="862429"/>
                </a:lnTo>
                <a:lnTo>
                  <a:pt x="0" y="86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775964" y="3659244"/>
            <a:ext cx="683671" cy="862429"/>
          </a:xfrm>
          <a:custGeom>
            <a:avLst/>
            <a:gdLst/>
            <a:ahLst/>
            <a:cxnLst/>
            <a:rect r="r" b="b" t="t" l="l"/>
            <a:pathLst>
              <a:path h="862429" w="683671">
                <a:moveTo>
                  <a:pt x="0" y="0"/>
                </a:moveTo>
                <a:lnTo>
                  <a:pt x="683671" y="0"/>
                </a:lnTo>
                <a:lnTo>
                  <a:pt x="683671" y="862429"/>
                </a:lnTo>
                <a:lnTo>
                  <a:pt x="0" y="862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202092" y="3494752"/>
            <a:ext cx="576211" cy="1191413"/>
          </a:xfrm>
          <a:custGeom>
            <a:avLst/>
            <a:gdLst/>
            <a:ahLst/>
            <a:cxnLst/>
            <a:rect r="r" b="b" t="t" l="l"/>
            <a:pathLst>
              <a:path h="1191413" w="576211">
                <a:moveTo>
                  <a:pt x="0" y="0"/>
                </a:moveTo>
                <a:lnTo>
                  <a:pt x="576211" y="0"/>
                </a:lnTo>
                <a:lnTo>
                  <a:pt x="576211" y="1191413"/>
                </a:lnTo>
                <a:lnTo>
                  <a:pt x="0" y="11914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845646" y="513586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Clo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sed-loop mitigation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30122" y="5903580"/>
            <a:ext cx="2868719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Upg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rading from open-loop alerts to an autonomous system where RPi controlled solenoid valves instantly isolate contamination lines before distribution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98965" y="513586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 data architecture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49588" y="5903580"/>
            <a:ext cx="2534140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treaming real time water quality metrics to a public cloud dashboard to foster municipal oversight and community transparency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71363" y="5135865"/>
            <a:ext cx="203766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Mu</a:t>
            </a:r>
            <a:r>
              <a:rPr lang="en-US" sz="2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lti-sensor integration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4209" y="5903580"/>
            <a:ext cx="2534140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Expanding the sensor array to include Total Dissolved Solids (TDS) and Electrical Conductivity (EC) parameters etc for a more thorough and robust analysis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878044" y="1304925"/>
            <a:ext cx="6574281" cy="9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6"/>
              </a:lnSpc>
              <a:spcBef>
                <a:spcPct val="0"/>
              </a:spcBef>
            </a:pPr>
            <a:r>
              <a:rPr lang="en-US" sz="7776" spc="7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FUTURE SCOPE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703" y="-935277"/>
            <a:ext cx="5530142" cy="13261494"/>
            <a:chOff x="0" y="0"/>
            <a:chExt cx="1219055" cy="2923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055" cy="2923341"/>
            </a:xfrm>
            <a:custGeom>
              <a:avLst/>
              <a:gdLst/>
              <a:ahLst/>
              <a:cxnLst/>
              <a:rect r="r" b="b" t="t" l="l"/>
              <a:pathLst>
                <a:path h="2923341" w="1219055">
                  <a:moveTo>
                    <a:pt x="23799" y="0"/>
                  </a:moveTo>
                  <a:lnTo>
                    <a:pt x="1195256" y="0"/>
                  </a:lnTo>
                  <a:cubicBezTo>
                    <a:pt x="1201568" y="0"/>
                    <a:pt x="1207621" y="2507"/>
                    <a:pt x="1212084" y="6971"/>
                  </a:cubicBezTo>
                  <a:cubicBezTo>
                    <a:pt x="1216548" y="11434"/>
                    <a:pt x="1219055" y="17487"/>
                    <a:pt x="1219055" y="23799"/>
                  </a:cubicBezTo>
                  <a:lnTo>
                    <a:pt x="1219055" y="2899542"/>
                  </a:lnTo>
                  <a:cubicBezTo>
                    <a:pt x="1219055" y="2905854"/>
                    <a:pt x="1216548" y="2911907"/>
                    <a:pt x="1212084" y="2916370"/>
                  </a:cubicBezTo>
                  <a:cubicBezTo>
                    <a:pt x="1207621" y="2920834"/>
                    <a:pt x="1201568" y="2923341"/>
                    <a:pt x="1195256" y="2923341"/>
                  </a:cubicBezTo>
                  <a:lnTo>
                    <a:pt x="23799" y="2923341"/>
                  </a:lnTo>
                  <a:cubicBezTo>
                    <a:pt x="17487" y="2923341"/>
                    <a:pt x="11434" y="2920834"/>
                    <a:pt x="6971" y="2916370"/>
                  </a:cubicBezTo>
                  <a:cubicBezTo>
                    <a:pt x="2507" y="2911907"/>
                    <a:pt x="0" y="2905854"/>
                    <a:pt x="0" y="2899542"/>
                  </a:cubicBezTo>
                  <a:lnTo>
                    <a:pt x="0" y="23799"/>
                  </a:lnTo>
                  <a:cubicBezTo>
                    <a:pt x="0" y="17487"/>
                    <a:pt x="2507" y="11434"/>
                    <a:pt x="6971" y="6971"/>
                  </a:cubicBezTo>
                  <a:cubicBezTo>
                    <a:pt x="11434" y="2507"/>
                    <a:pt x="17487" y="0"/>
                    <a:pt x="23799" y="0"/>
                  </a:cubicBezTo>
                  <a:close/>
                </a:path>
              </a:pathLst>
            </a:custGeom>
            <a:solidFill>
              <a:srgbClr val="998F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219055" cy="300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922176" y="2494700"/>
            <a:ext cx="25583" cy="6940898"/>
          </a:xfrm>
          <a:prstGeom prst="line">
            <a:avLst/>
          </a:prstGeom>
          <a:ln cap="flat" w="38100">
            <a:solidFill>
              <a:srgbClr val="EAE4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>
            <a:hlinkClick r:id="rId4" action="ppaction://hlinksldjump"/>
          </p:cNvPr>
          <p:cNvSpPr/>
          <p:nvPr/>
        </p:nvSpPr>
        <p:spPr>
          <a:xfrm flipH="false" flipV="false" rot="0">
            <a:off x="486703" y="1638006"/>
            <a:ext cx="870946" cy="856694"/>
          </a:xfrm>
          <a:custGeom>
            <a:avLst/>
            <a:gdLst/>
            <a:ahLst/>
            <a:cxnLst/>
            <a:rect r="r" b="b" t="t" l="l"/>
            <a:pathLst>
              <a:path h="856694" w="870946">
                <a:moveTo>
                  <a:pt x="0" y="0"/>
                </a:moveTo>
                <a:lnTo>
                  <a:pt x="870946" y="0"/>
                </a:lnTo>
                <a:lnTo>
                  <a:pt x="870946" y="856694"/>
                </a:lnTo>
                <a:lnTo>
                  <a:pt x="0" y="85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2381" y="1808269"/>
            <a:ext cx="5608057" cy="1075268"/>
            <a:chOff x="0" y="0"/>
            <a:chExt cx="1477019" cy="283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2A2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Decode and extract water quality parameters.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52786" y="4460290"/>
            <a:ext cx="5608057" cy="1075268"/>
            <a:chOff x="0" y="0"/>
            <a:chExt cx="1477019" cy="2831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ED5BD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Compare readings against predefined threshold values.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94083" y="6751389"/>
            <a:ext cx="5608057" cy="1075268"/>
            <a:chOff x="0" y="0"/>
            <a:chExt cx="1477019" cy="2831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7AC6D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Send SMS notifications via GSM module.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75027" y="7826657"/>
            <a:ext cx="5608057" cy="1075268"/>
            <a:chOff x="0" y="0"/>
            <a:chExt cx="1477019" cy="283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2D0C8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Store historical data on microSD card.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80173" y="2737020"/>
            <a:ext cx="5608057" cy="1655418"/>
            <a:chOff x="0" y="0"/>
            <a:chExt cx="1477019" cy="4359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7019" cy="435995"/>
            </a:xfrm>
            <a:custGeom>
              <a:avLst/>
              <a:gdLst/>
              <a:ahLst/>
              <a:cxnLst/>
              <a:rect r="r" b="b" t="t" l="l"/>
              <a:pathLst>
                <a:path h="435995" w="1477019">
                  <a:moveTo>
                    <a:pt x="1273819" y="0"/>
                  </a:moveTo>
                  <a:cubicBezTo>
                    <a:pt x="1386043" y="0"/>
                    <a:pt x="1477019" y="97601"/>
                    <a:pt x="1477019" y="217997"/>
                  </a:cubicBezTo>
                  <a:cubicBezTo>
                    <a:pt x="1477019" y="338394"/>
                    <a:pt x="1386043" y="435995"/>
                    <a:pt x="1273819" y="435995"/>
                  </a:cubicBezTo>
                  <a:lnTo>
                    <a:pt x="203200" y="435995"/>
                  </a:lnTo>
                  <a:cubicBezTo>
                    <a:pt x="90976" y="435995"/>
                    <a:pt x="0" y="338394"/>
                    <a:pt x="0" y="217997"/>
                  </a:cubicBezTo>
                  <a:cubicBezTo>
                    <a:pt x="0" y="9760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BCCA4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477019" cy="521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                           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70437" y="720275"/>
            <a:ext cx="5879390" cy="1127292"/>
            <a:chOff x="0" y="0"/>
            <a:chExt cx="1477019" cy="2831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2AC9D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Receive sensor data from multiple LoRaWAN end nodes.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79943" y="5281890"/>
            <a:ext cx="5608057" cy="1075268"/>
            <a:chOff x="0" y="0"/>
            <a:chExt cx="1477019" cy="2831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98F75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Generate alerts when abnormal conditions are detected.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52786" y="8995288"/>
            <a:ext cx="5822240" cy="1116334"/>
            <a:chOff x="0" y="0"/>
            <a:chExt cx="1477019" cy="2831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77019" cy="283198"/>
            </a:xfrm>
            <a:custGeom>
              <a:avLst/>
              <a:gdLst/>
              <a:ahLst/>
              <a:cxnLst/>
              <a:rect r="r" b="b" t="t" l="l"/>
              <a:pathLst>
                <a:path h="283198" w="1477019">
                  <a:moveTo>
                    <a:pt x="1273819" y="0"/>
                  </a:moveTo>
                  <a:cubicBezTo>
                    <a:pt x="1386043" y="0"/>
                    <a:pt x="1477019" y="63396"/>
                    <a:pt x="1477019" y="141599"/>
                  </a:cubicBezTo>
                  <a:cubicBezTo>
                    <a:pt x="1477019" y="219802"/>
                    <a:pt x="1386043" y="283198"/>
                    <a:pt x="1273819" y="283198"/>
                  </a:cubicBezTo>
                  <a:lnTo>
                    <a:pt x="203200" y="283198"/>
                  </a:lnTo>
                  <a:cubicBezTo>
                    <a:pt x="90976" y="283198"/>
                    <a:pt x="0" y="219802"/>
                    <a:pt x="0" y="141599"/>
                  </a:cubicBezTo>
                  <a:cubicBezTo>
                    <a:pt x="0" y="633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2C1BC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477019" cy="36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Update LCD display when requested (Wake-on-Demand)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3174259">
            <a:off x="11247370" y="802724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0"/>
                </a:moveTo>
                <a:lnTo>
                  <a:pt x="676305" y="0"/>
                </a:lnTo>
                <a:lnTo>
                  <a:pt x="676305" y="1205971"/>
                </a:lnTo>
                <a:lnTo>
                  <a:pt x="0" y="1205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2183376">
            <a:off x="11612073" y="3336989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0"/>
                </a:moveTo>
                <a:lnTo>
                  <a:pt x="676304" y="0"/>
                </a:lnTo>
                <a:lnTo>
                  <a:pt x="676304" y="1205971"/>
                </a:lnTo>
                <a:lnTo>
                  <a:pt x="0" y="1205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2557545">
            <a:off x="11479719" y="7943968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0"/>
                </a:moveTo>
                <a:lnTo>
                  <a:pt x="676304" y="0"/>
                </a:lnTo>
                <a:lnTo>
                  <a:pt x="676304" y="1205971"/>
                </a:lnTo>
                <a:lnTo>
                  <a:pt x="0" y="1205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2279132">
            <a:off x="11785062" y="5623340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0"/>
                </a:moveTo>
                <a:lnTo>
                  <a:pt x="676304" y="0"/>
                </a:lnTo>
                <a:lnTo>
                  <a:pt x="676304" y="1205971"/>
                </a:lnTo>
                <a:lnTo>
                  <a:pt x="0" y="1205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true" rot="7172240">
            <a:off x="12535422" y="1837875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1205970"/>
                </a:moveTo>
                <a:lnTo>
                  <a:pt x="676305" y="1205970"/>
                </a:lnTo>
                <a:lnTo>
                  <a:pt x="676305" y="0"/>
                </a:lnTo>
                <a:lnTo>
                  <a:pt x="0" y="0"/>
                </a:lnTo>
                <a:lnTo>
                  <a:pt x="0" y="120597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true" rot="7564789">
            <a:off x="12534138" y="4394938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1205971"/>
                </a:moveTo>
                <a:lnTo>
                  <a:pt x="676304" y="1205971"/>
                </a:lnTo>
                <a:lnTo>
                  <a:pt x="676304" y="0"/>
                </a:lnTo>
                <a:lnTo>
                  <a:pt x="0" y="0"/>
                </a:lnTo>
                <a:lnTo>
                  <a:pt x="0" y="12059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true" rot="7951626">
            <a:off x="12681361" y="6820533"/>
            <a:ext cx="676304" cy="1205971"/>
          </a:xfrm>
          <a:custGeom>
            <a:avLst/>
            <a:gdLst/>
            <a:ahLst/>
            <a:cxnLst/>
            <a:rect r="r" b="b" t="t" l="l"/>
            <a:pathLst>
              <a:path h="1205971" w="676304">
                <a:moveTo>
                  <a:pt x="0" y="1205970"/>
                </a:moveTo>
                <a:lnTo>
                  <a:pt x="676304" y="1205970"/>
                </a:lnTo>
                <a:lnTo>
                  <a:pt x="676304" y="0"/>
                </a:lnTo>
                <a:lnTo>
                  <a:pt x="0" y="0"/>
                </a:lnTo>
                <a:lnTo>
                  <a:pt x="0" y="120597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467258" y="2883537"/>
            <a:ext cx="7479186" cy="1328621"/>
            <a:chOff x="0" y="0"/>
            <a:chExt cx="9972248" cy="1771495"/>
          </a:xfrm>
        </p:grpSpPr>
        <p:sp>
          <p:nvSpPr>
            <p:cNvPr name="Freeform 39" id="39"/>
            <p:cNvSpPr/>
            <p:nvPr/>
          </p:nvSpPr>
          <p:spPr>
            <a:xfrm flipH="true" flipV="false" rot="0">
              <a:off x="4273798" y="0"/>
              <a:ext cx="1192966" cy="1735798"/>
            </a:xfrm>
            <a:custGeom>
              <a:avLst/>
              <a:gdLst/>
              <a:ahLst/>
              <a:cxnLst/>
              <a:rect r="r" b="b" t="t" l="l"/>
              <a:pathLst>
                <a:path h="1735798" w="1192966">
                  <a:moveTo>
                    <a:pt x="1192966" y="0"/>
                  </a:moveTo>
                  <a:lnTo>
                    <a:pt x="0" y="0"/>
                  </a:lnTo>
                  <a:lnTo>
                    <a:pt x="0" y="1735798"/>
                  </a:lnTo>
                  <a:lnTo>
                    <a:pt x="1192966" y="1735798"/>
                  </a:lnTo>
                  <a:lnTo>
                    <a:pt x="1192966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3245474" y="28575"/>
              <a:ext cx="1192966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10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ORP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677314" y="683114"/>
              <a:ext cx="482918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1373350"/>
              <a:ext cx="7477409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Temp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494839" y="700962"/>
              <a:ext cx="7477409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Chlorine, 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30223" y="249597"/>
            <a:ext cx="6040255" cy="77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5"/>
              </a:lnSpc>
              <a:spcBef>
                <a:spcPct val="0"/>
              </a:spcBef>
            </a:pPr>
            <a:r>
              <a:rPr lang="en-US" b="true" sz="4879">
                <a:solidFill>
                  <a:srgbClr val="EAE4D4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RASPBERRY PI 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8739" y="2647432"/>
            <a:ext cx="3601342" cy="332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  <a:spcBef>
                <a:spcPct val="0"/>
              </a:spcBef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Provides sufficient processing power for:</a:t>
            </a:r>
          </a:p>
          <a:p>
            <a:pPr algn="l" marL="496872" indent="-248436" lvl="1">
              <a:lnSpc>
                <a:spcPts val="2945"/>
              </a:lnSpc>
              <a:buFont typeface="Arial"/>
              <a:buChar char="•"/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Multi-node data handling</a:t>
            </a:r>
          </a:p>
          <a:p>
            <a:pPr algn="l" marL="496872" indent="-248436" lvl="1">
              <a:lnSpc>
                <a:spcPts val="2945"/>
              </a:lnSpc>
              <a:buFont typeface="Arial"/>
              <a:buChar char="•"/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Threshold analysis</a:t>
            </a:r>
          </a:p>
          <a:p>
            <a:pPr algn="l" marL="496872" indent="-248436" lvl="1">
              <a:lnSpc>
                <a:spcPts val="2945"/>
              </a:lnSpc>
              <a:buFont typeface="Arial"/>
              <a:buChar char="•"/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Alert generation</a:t>
            </a:r>
          </a:p>
          <a:p>
            <a:pPr algn="l" marL="496872" indent="-248436" lvl="1">
              <a:lnSpc>
                <a:spcPts val="2945"/>
              </a:lnSpc>
              <a:buFont typeface="Arial"/>
              <a:buChar char="•"/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Data logging</a:t>
            </a:r>
          </a:p>
          <a:p>
            <a:pPr algn="l" marL="496872" indent="-248436" lvl="1">
              <a:lnSpc>
                <a:spcPts val="2945"/>
              </a:lnSpc>
              <a:buFont typeface="Arial"/>
              <a:buChar char="•"/>
            </a:pPr>
            <a:r>
              <a:rPr lang="en-US" sz="2301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Peripheral control (LCD, GSM, microSD)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68739" y="6603474"/>
            <a:ext cx="3126835" cy="221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325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The SX1302 LoRaWAN concentrator requires a Linux-based operating system for multi node communication.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7166" y="1798744"/>
            <a:ext cx="1475303" cy="37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406">
                <a:solidFill>
                  <a:srgbClr val="2A2B39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WHY RPI?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164786" y="259122"/>
            <a:ext cx="5958428" cy="51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211">
                <a:solidFill>
                  <a:srgbClr val="635C4C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GATEWAY PROCESSING FLOW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257788" y="1307264"/>
            <a:ext cx="61079" cy="263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825695" y="3131278"/>
            <a:ext cx="2120749" cy="866902"/>
            <a:chOff x="0" y="0"/>
            <a:chExt cx="2827665" cy="1155869"/>
          </a:xfrm>
        </p:grpSpPr>
        <p:sp>
          <p:nvSpPr>
            <p:cNvPr name="Freeform 51" id="51"/>
            <p:cNvSpPr/>
            <p:nvPr/>
          </p:nvSpPr>
          <p:spPr>
            <a:xfrm flipH="false" flipV="false" rot="2700000">
              <a:off x="888838" y="168529"/>
              <a:ext cx="815834" cy="818812"/>
            </a:xfrm>
            <a:custGeom>
              <a:avLst/>
              <a:gdLst/>
              <a:ahLst/>
              <a:cxnLst/>
              <a:rect r="r" b="b" t="t" l="l"/>
              <a:pathLst>
                <a:path h="818812" w="815834">
                  <a:moveTo>
                    <a:pt x="0" y="0"/>
                  </a:moveTo>
                  <a:lnTo>
                    <a:pt x="815834" y="0"/>
                  </a:lnTo>
                  <a:lnTo>
                    <a:pt x="815834" y="818811"/>
                  </a:lnTo>
                  <a:lnTo>
                    <a:pt x="0" y="818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0" y="393150"/>
              <a:ext cx="71882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ORP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006134" y="393150"/>
              <a:ext cx="821531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Ecoli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4561168" y="2900885"/>
            <a:ext cx="143577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Calculates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83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9" y="-947139"/>
            <a:ext cx="11356110" cy="11429458"/>
            <a:chOff x="0" y="0"/>
            <a:chExt cx="2990910" cy="3010228"/>
          </a:xfrm>
        </p:grpSpPr>
        <p:sp>
          <p:nvSpPr>
            <p:cNvPr name="Freeform 3" id="3">
              <a:hlinkClick r:id="rId2" action="ppaction://hlinksldjump"/>
            </p:cNvPr>
            <p:cNvSpPr/>
            <p:nvPr/>
          </p:nvSpPr>
          <p:spPr>
            <a:xfrm flipH="false" flipV="false" rot="0">
              <a:off x="0" y="0"/>
              <a:ext cx="2990910" cy="3010228"/>
            </a:xfrm>
            <a:custGeom>
              <a:avLst/>
              <a:gdLst/>
              <a:ahLst/>
              <a:cxnLst/>
              <a:rect r="r" b="b" t="t" l="l"/>
              <a:pathLst>
                <a:path h="3010228" w="2990910">
                  <a:moveTo>
                    <a:pt x="0" y="0"/>
                  </a:moveTo>
                  <a:lnTo>
                    <a:pt x="2990910" y="0"/>
                  </a:lnTo>
                  <a:lnTo>
                    <a:pt x="2990910" y="3010228"/>
                  </a:lnTo>
                  <a:lnTo>
                    <a:pt x="0" y="3010228"/>
                  </a:lnTo>
                  <a:close/>
                </a:path>
              </a:pathLst>
            </a:custGeom>
            <a:solidFill>
              <a:srgbClr val="EAE4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990910" cy="3095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35603" y="2433513"/>
            <a:ext cx="9317116" cy="6824787"/>
          </a:xfrm>
          <a:custGeom>
            <a:avLst/>
            <a:gdLst/>
            <a:ahLst/>
            <a:cxnLst/>
            <a:rect r="r" b="b" t="t" l="l"/>
            <a:pathLst>
              <a:path h="6824787" w="9317116">
                <a:moveTo>
                  <a:pt x="0" y="0"/>
                </a:moveTo>
                <a:lnTo>
                  <a:pt x="9317116" y="0"/>
                </a:lnTo>
                <a:lnTo>
                  <a:pt x="9317116" y="6824787"/>
                </a:lnTo>
                <a:lnTo>
                  <a:pt x="0" y="6824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73584" y="840259"/>
            <a:ext cx="6445761" cy="2226717"/>
          </a:xfrm>
          <a:custGeom>
            <a:avLst/>
            <a:gdLst/>
            <a:ahLst/>
            <a:cxnLst/>
            <a:rect r="r" b="b" t="t" l="l"/>
            <a:pathLst>
              <a:path h="2226717" w="6445761">
                <a:moveTo>
                  <a:pt x="0" y="0"/>
                </a:moveTo>
                <a:lnTo>
                  <a:pt x="6445761" y="0"/>
                </a:lnTo>
                <a:lnTo>
                  <a:pt x="6445761" y="2226717"/>
                </a:lnTo>
                <a:lnTo>
                  <a:pt x="0" y="2226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88075"/>
            <a:ext cx="9870710" cy="119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0"/>
              </a:lnSpc>
              <a:spcBef>
                <a:spcPct val="0"/>
              </a:spcBef>
            </a:pPr>
            <a:r>
              <a:rPr lang="en-US" b="true" sz="3271">
                <a:solidFill>
                  <a:srgbClr val="635C4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WHY IS IT BETTER TO USE GRID POWER OVER SOLAR POWER FOR THE MAIN GATEWAY?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9656" y="976954"/>
            <a:ext cx="6080268" cy="178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  <a:spcBef>
                <a:spcPct val="0"/>
              </a:spcBef>
            </a:pPr>
            <a:r>
              <a:rPr lang="en-US" sz="2472">
                <a:solidFill>
                  <a:srgbClr val="2A2B39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Unlike an ESP32, RPI consumes 5W in worst case scenario due to the extensive processing and the lack of a deep sleep state.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49564" y="3836112"/>
            <a:ext cx="6734680" cy="2326526"/>
          </a:xfrm>
          <a:custGeom>
            <a:avLst/>
            <a:gdLst/>
            <a:ahLst/>
            <a:cxnLst/>
            <a:rect r="r" b="b" t="t" l="l"/>
            <a:pathLst>
              <a:path h="2326526" w="6734680">
                <a:moveTo>
                  <a:pt x="0" y="0"/>
                </a:moveTo>
                <a:lnTo>
                  <a:pt x="6734680" y="0"/>
                </a:lnTo>
                <a:lnTo>
                  <a:pt x="6734680" y="2326526"/>
                </a:lnTo>
                <a:lnTo>
                  <a:pt x="0" y="2326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0660" y="3954329"/>
            <a:ext cx="6372488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A2B39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</a:t>
            </a:r>
            <a:r>
              <a:rPr lang="en-US" sz="2499">
                <a:solidFill>
                  <a:srgbClr val="2A2B39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grid-powered gateway is more cost-effective over 5 years, costing roughly 61% less than the total investment required for a solar-powered system.</a:t>
            </a:r>
          </a:p>
        </p:txBody>
      </p:sp>
      <p:sp>
        <p:nvSpPr>
          <p:cNvPr name="Freeform 11" id="11">
            <a:hlinkClick r:id="rId2" action="ppaction://hlinksldjump"/>
          </p:cNvPr>
          <p:cNvSpPr/>
          <p:nvPr/>
        </p:nvSpPr>
        <p:spPr>
          <a:xfrm flipH="false" flipV="false" rot="0">
            <a:off x="11384665" y="6931774"/>
            <a:ext cx="6734680" cy="2326526"/>
          </a:xfrm>
          <a:custGeom>
            <a:avLst/>
            <a:gdLst/>
            <a:ahLst/>
            <a:cxnLst/>
            <a:rect r="r" b="b" t="t" l="l"/>
            <a:pathLst>
              <a:path h="2326526" w="6734680">
                <a:moveTo>
                  <a:pt x="0" y="0"/>
                </a:moveTo>
                <a:lnTo>
                  <a:pt x="6734680" y="0"/>
                </a:lnTo>
                <a:lnTo>
                  <a:pt x="6734680" y="2326526"/>
                </a:lnTo>
                <a:lnTo>
                  <a:pt x="0" y="2326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11871" y="7010363"/>
            <a:ext cx="6080268" cy="12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2A2B3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GRID POWER&gt;&gt;&gt;&gt;&gt; SOLAR POWER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9656" y="8409047"/>
            <a:ext cx="6080268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 the RPi Gateway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576" y="854380"/>
            <a:ext cx="4251836" cy="3362816"/>
          </a:xfrm>
          <a:custGeom>
            <a:avLst/>
            <a:gdLst/>
            <a:ahLst/>
            <a:cxnLst/>
            <a:rect r="r" b="b" t="t" l="l"/>
            <a:pathLst>
              <a:path h="3362816" w="4251836">
                <a:moveTo>
                  <a:pt x="0" y="0"/>
                </a:moveTo>
                <a:lnTo>
                  <a:pt x="4251835" y="0"/>
                </a:lnTo>
                <a:lnTo>
                  <a:pt x="4251835" y="3362815"/>
                </a:lnTo>
                <a:lnTo>
                  <a:pt x="0" y="33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1112" y="5657215"/>
            <a:ext cx="4390152" cy="1420813"/>
          </a:xfrm>
          <a:custGeom>
            <a:avLst/>
            <a:gdLst/>
            <a:ahLst/>
            <a:cxnLst/>
            <a:rect r="r" b="b" t="t" l="l"/>
            <a:pathLst>
              <a:path h="1420813" w="4390152">
                <a:moveTo>
                  <a:pt x="0" y="0"/>
                </a:moveTo>
                <a:lnTo>
                  <a:pt x="4390151" y="0"/>
                </a:lnTo>
                <a:lnTo>
                  <a:pt x="4390151" y="1420813"/>
                </a:lnTo>
                <a:lnTo>
                  <a:pt x="0" y="142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71954" y="3979545"/>
            <a:ext cx="4390152" cy="1420813"/>
          </a:xfrm>
          <a:custGeom>
            <a:avLst/>
            <a:gdLst/>
            <a:ahLst/>
            <a:cxnLst/>
            <a:rect r="r" b="b" t="t" l="l"/>
            <a:pathLst>
              <a:path h="1420813" w="4390152">
                <a:moveTo>
                  <a:pt x="0" y="0"/>
                </a:moveTo>
                <a:lnTo>
                  <a:pt x="4390151" y="0"/>
                </a:lnTo>
                <a:lnTo>
                  <a:pt x="4390151" y="1420813"/>
                </a:lnTo>
                <a:lnTo>
                  <a:pt x="0" y="142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73886" y="514639"/>
            <a:ext cx="3986287" cy="3152791"/>
          </a:xfrm>
          <a:custGeom>
            <a:avLst/>
            <a:gdLst/>
            <a:ahLst/>
            <a:cxnLst/>
            <a:rect r="r" b="b" t="t" l="l"/>
            <a:pathLst>
              <a:path h="3152791" w="3986287">
                <a:moveTo>
                  <a:pt x="0" y="0"/>
                </a:moveTo>
                <a:lnTo>
                  <a:pt x="3986287" y="0"/>
                </a:lnTo>
                <a:lnTo>
                  <a:pt x="3986287" y="3152791"/>
                </a:lnTo>
                <a:lnTo>
                  <a:pt x="0" y="3152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33705" y="5400358"/>
            <a:ext cx="3876484" cy="1254571"/>
          </a:xfrm>
          <a:custGeom>
            <a:avLst/>
            <a:gdLst/>
            <a:ahLst/>
            <a:cxnLst/>
            <a:rect r="r" b="b" t="t" l="l"/>
            <a:pathLst>
              <a:path h="1254571" w="3876484">
                <a:moveTo>
                  <a:pt x="0" y="0"/>
                </a:moveTo>
                <a:lnTo>
                  <a:pt x="3876484" y="0"/>
                </a:lnTo>
                <a:lnTo>
                  <a:pt x="3876484" y="1254571"/>
                </a:lnTo>
                <a:lnTo>
                  <a:pt x="0" y="125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21532" y="7595903"/>
            <a:ext cx="3876484" cy="1254571"/>
          </a:xfrm>
          <a:custGeom>
            <a:avLst/>
            <a:gdLst/>
            <a:ahLst/>
            <a:cxnLst/>
            <a:rect r="r" b="b" t="t" l="l"/>
            <a:pathLst>
              <a:path h="1254571" w="3876484">
                <a:moveTo>
                  <a:pt x="0" y="0"/>
                </a:moveTo>
                <a:lnTo>
                  <a:pt x="3876483" y="0"/>
                </a:lnTo>
                <a:lnTo>
                  <a:pt x="3876483" y="1254571"/>
                </a:lnTo>
                <a:lnTo>
                  <a:pt x="0" y="125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862359">
            <a:off x="5160606" y="4036897"/>
            <a:ext cx="584491" cy="1836970"/>
          </a:xfrm>
          <a:custGeom>
            <a:avLst/>
            <a:gdLst/>
            <a:ahLst/>
            <a:cxnLst/>
            <a:rect r="r" b="b" t="t" l="l"/>
            <a:pathLst>
              <a:path h="1836970" w="584491">
                <a:moveTo>
                  <a:pt x="0" y="0"/>
                </a:moveTo>
                <a:lnTo>
                  <a:pt x="584490" y="0"/>
                </a:lnTo>
                <a:lnTo>
                  <a:pt x="584490" y="1836970"/>
                </a:lnTo>
                <a:lnTo>
                  <a:pt x="0" y="1836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57442" y="4160045"/>
            <a:ext cx="4004664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reads sensors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4244137">
            <a:off x="11316370" y="4096352"/>
            <a:ext cx="517214" cy="1625529"/>
          </a:xfrm>
          <a:custGeom>
            <a:avLst/>
            <a:gdLst/>
            <a:ahLst/>
            <a:cxnLst/>
            <a:rect r="r" b="b" t="t" l="l"/>
            <a:pathLst>
              <a:path h="1625529" w="517214">
                <a:moveTo>
                  <a:pt x="0" y="0"/>
                </a:moveTo>
                <a:lnTo>
                  <a:pt x="517214" y="0"/>
                </a:lnTo>
                <a:lnTo>
                  <a:pt x="517214" y="1625529"/>
                </a:lnTo>
                <a:lnTo>
                  <a:pt x="0" y="1625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90705">
            <a:off x="10385178" y="5185072"/>
            <a:ext cx="753855" cy="2369258"/>
          </a:xfrm>
          <a:custGeom>
            <a:avLst/>
            <a:gdLst/>
            <a:ahLst/>
            <a:cxnLst/>
            <a:rect r="r" b="b" t="t" l="l"/>
            <a:pathLst>
              <a:path h="2369258" w="753855">
                <a:moveTo>
                  <a:pt x="0" y="0"/>
                </a:moveTo>
                <a:lnTo>
                  <a:pt x="753855" y="0"/>
                </a:lnTo>
                <a:lnTo>
                  <a:pt x="753855" y="2369259"/>
                </a:lnTo>
                <a:lnTo>
                  <a:pt x="0" y="236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434529">
            <a:off x="5247083" y="6579343"/>
            <a:ext cx="753855" cy="2369258"/>
          </a:xfrm>
          <a:custGeom>
            <a:avLst/>
            <a:gdLst/>
            <a:ahLst/>
            <a:cxnLst/>
            <a:rect r="r" b="b" t="t" l="l"/>
            <a:pathLst>
              <a:path h="2369258" w="753855">
                <a:moveTo>
                  <a:pt x="0" y="0"/>
                </a:moveTo>
                <a:lnTo>
                  <a:pt x="753855" y="0"/>
                </a:lnTo>
                <a:lnTo>
                  <a:pt x="753855" y="2369259"/>
                </a:lnTo>
                <a:lnTo>
                  <a:pt x="0" y="236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>
            <a:hlinkClick r:id="rId10" action="ppaction://hlinksldjump"/>
          </p:cNvPr>
          <p:cNvSpPr/>
          <p:nvPr/>
        </p:nvSpPr>
        <p:spPr>
          <a:xfrm flipH="false" flipV="false" rot="0">
            <a:off x="11303720" y="7672103"/>
            <a:ext cx="6335570" cy="1750921"/>
          </a:xfrm>
          <a:custGeom>
            <a:avLst/>
            <a:gdLst/>
            <a:ahLst/>
            <a:cxnLst/>
            <a:rect r="r" b="b" t="t" l="l"/>
            <a:pathLst>
              <a:path h="1750921" w="6335570">
                <a:moveTo>
                  <a:pt x="0" y="0"/>
                </a:moveTo>
                <a:lnTo>
                  <a:pt x="6335570" y="0"/>
                </a:lnTo>
                <a:lnTo>
                  <a:pt x="6335570" y="1750921"/>
                </a:lnTo>
                <a:lnTo>
                  <a:pt x="0" y="17509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54593" y="3816446"/>
            <a:ext cx="17755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via LoRa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427553" y="514639"/>
            <a:ext cx="4960391" cy="3923219"/>
          </a:xfrm>
          <a:custGeom>
            <a:avLst/>
            <a:gdLst/>
            <a:ahLst/>
            <a:cxnLst/>
            <a:rect r="r" b="b" t="t" l="l"/>
            <a:pathLst>
              <a:path h="3923219" w="4960391">
                <a:moveTo>
                  <a:pt x="0" y="0"/>
                </a:moveTo>
                <a:lnTo>
                  <a:pt x="4960392" y="0"/>
                </a:lnTo>
                <a:lnTo>
                  <a:pt x="4960392" y="3923219"/>
                </a:lnTo>
                <a:lnTo>
                  <a:pt x="0" y="392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24976" y="1912218"/>
            <a:ext cx="379903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are Esp32s solar powered??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112" y="6053614"/>
            <a:ext cx="439015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wakes up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73886" y="1655360"/>
            <a:ext cx="37990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sleep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0172" y="5704111"/>
            <a:ext cx="26835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Raspberry 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57442" y="7945694"/>
            <a:ext cx="439015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sleep mode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76265" y="7945694"/>
            <a:ext cx="479048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mode: 80-240mA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sleep: 5-150uA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8088" y="1475650"/>
            <a:ext cx="4099322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Asleep for 99%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consumption reduced by 95-99%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BE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3005" y="1028700"/>
            <a:ext cx="6689794" cy="8054198"/>
            <a:chOff x="0" y="0"/>
            <a:chExt cx="8919726" cy="107389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919726" cy="10738931"/>
              <a:chOff x="0" y="0"/>
              <a:chExt cx="1376501" cy="165724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76501" cy="1657242"/>
              </a:xfrm>
              <a:custGeom>
                <a:avLst/>
                <a:gdLst/>
                <a:ahLst/>
                <a:cxnLst/>
                <a:rect r="r" b="b" t="t" l="l"/>
                <a:pathLst>
                  <a:path h="1657242" w="1376501">
                    <a:moveTo>
                      <a:pt x="22603" y="0"/>
                    </a:moveTo>
                    <a:lnTo>
                      <a:pt x="1353898" y="0"/>
                    </a:lnTo>
                    <a:cubicBezTo>
                      <a:pt x="1359893" y="0"/>
                      <a:pt x="1365642" y="2381"/>
                      <a:pt x="1369881" y="6620"/>
                    </a:cubicBezTo>
                    <a:cubicBezTo>
                      <a:pt x="1374120" y="10859"/>
                      <a:pt x="1376501" y="16608"/>
                      <a:pt x="1376501" y="22603"/>
                    </a:cubicBezTo>
                    <a:lnTo>
                      <a:pt x="1376501" y="1634639"/>
                    </a:lnTo>
                    <a:cubicBezTo>
                      <a:pt x="1376501" y="1647123"/>
                      <a:pt x="1366381" y="1657242"/>
                      <a:pt x="1353898" y="1657242"/>
                    </a:cubicBezTo>
                    <a:lnTo>
                      <a:pt x="22603" y="1657242"/>
                    </a:lnTo>
                    <a:cubicBezTo>
                      <a:pt x="10120" y="1657242"/>
                      <a:pt x="0" y="1647123"/>
                      <a:pt x="0" y="1634639"/>
                    </a:cubicBezTo>
                    <a:lnTo>
                      <a:pt x="0" y="22603"/>
                    </a:lnTo>
                    <a:cubicBezTo>
                      <a:pt x="0" y="10120"/>
                      <a:pt x="10120" y="0"/>
                      <a:pt x="22603" y="0"/>
                    </a:cubicBezTo>
                    <a:close/>
                  </a:path>
                </a:pathLst>
              </a:custGeom>
              <a:solidFill>
                <a:srgbClr val="B2AC9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1376501" cy="17334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298176"/>
              <a:ext cx="7860909" cy="712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 u="sng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CORE NODE BASE COST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90405" y="1234382"/>
              <a:ext cx="8149992" cy="7337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Solar Panel (10W,6V): ₹600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TP4056 Charging Module: ₹40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18650 Li-ion Cell: ₹200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TI TPS61023 Boost Converter: ₹60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ESP32: ₹300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LoRa Transceiver (SX1276): ₹400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IP65 Waterproof Junction Box + </a:t>
              </a:r>
            </a:p>
            <a:p>
              <a:pPr algn="l">
                <a:lnSpc>
                  <a:spcPts val="3954"/>
                </a:lnSpc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     Glands: ₹250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Antenna- ₹150</a:t>
              </a:r>
            </a:p>
            <a:p>
              <a:pPr algn="l" marL="609858" indent="-304929" lvl="1">
                <a:lnSpc>
                  <a:spcPts val="3954"/>
                </a:lnSpc>
                <a:buAutoNum type="arabicPeriod" startAt="1"/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TI ADS122C04 24-bit ADC Chip </a:t>
              </a:r>
            </a:p>
            <a:p>
              <a:pPr algn="l">
                <a:lnSpc>
                  <a:spcPts val="3954"/>
                </a:lnSpc>
                <a:spcBef>
                  <a:spcPct val="0"/>
                </a:spcBef>
              </a:pP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     </a:t>
              </a:r>
              <a:r>
                <a:rPr lang="en-US" sz="2824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Module - ₹1000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172138"/>
              <a:ext cx="8919726" cy="689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SUB-TOTAL: ₹3000/node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2766" y="1583795"/>
            <a:ext cx="8325234" cy="5893875"/>
            <a:chOff x="0" y="0"/>
            <a:chExt cx="11100311" cy="785849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204086" cy="7858499"/>
              <a:chOff x="0" y="0"/>
              <a:chExt cx="780370" cy="6009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0230" cy="600989"/>
              </a:xfrm>
              <a:custGeom>
                <a:avLst/>
                <a:gdLst/>
                <a:ahLst/>
                <a:cxnLst/>
                <a:rect r="r" b="b" t="t" l="l"/>
                <a:pathLst>
                  <a:path h="600989" w="780230">
                    <a:moveTo>
                      <a:pt x="422880" y="0"/>
                    </a:moveTo>
                    <a:cubicBezTo>
                      <a:pt x="475538" y="0"/>
                      <a:pt x="514206" y="34823"/>
                      <a:pt x="540649" y="75083"/>
                    </a:cubicBezTo>
                    <a:cubicBezTo>
                      <a:pt x="588631" y="62679"/>
                      <a:pt x="628878" y="66965"/>
                      <a:pt x="661205" y="97825"/>
                    </a:cubicBezTo>
                    <a:cubicBezTo>
                      <a:pt x="687662" y="123084"/>
                      <a:pt x="699312" y="159084"/>
                      <a:pt x="696383" y="195596"/>
                    </a:cubicBezTo>
                    <a:cubicBezTo>
                      <a:pt x="756610" y="228773"/>
                      <a:pt x="790859" y="290849"/>
                      <a:pt x="777269" y="350454"/>
                    </a:cubicBezTo>
                    <a:cubicBezTo>
                      <a:pt x="761627" y="416918"/>
                      <a:pt x="683356" y="459639"/>
                      <a:pt x="612588" y="448906"/>
                    </a:cubicBezTo>
                    <a:cubicBezTo>
                      <a:pt x="592378" y="488384"/>
                      <a:pt x="555990" y="519399"/>
                      <a:pt x="509858" y="531116"/>
                    </a:cubicBezTo>
                    <a:cubicBezTo>
                      <a:pt x="448325" y="546740"/>
                      <a:pt x="386594" y="523730"/>
                      <a:pt x="349896" y="477361"/>
                    </a:cubicBezTo>
                    <a:lnTo>
                      <a:pt x="148850" y="600989"/>
                    </a:lnTo>
                    <a:cubicBezTo>
                      <a:pt x="179508" y="564148"/>
                      <a:pt x="209741" y="531116"/>
                      <a:pt x="218820" y="473906"/>
                    </a:cubicBezTo>
                    <a:cubicBezTo>
                      <a:pt x="193533" y="481386"/>
                      <a:pt x="164215" y="479298"/>
                      <a:pt x="136983" y="465840"/>
                    </a:cubicBezTo>
                    <a:cubicBezTo>
                      <a:pt x="89014" y="442134"/>
                      <a:pt x="67662" y="389997"/>
                      <a:pt x="74676" y="345952"/>
                    </a:cubicBezTo>
                    <a:cubicBezTo>
                      <a:pt x="47365" y="327319"/>
                      <a:pt x="0" y="300430"/>
                      <a:pt x="0" y="236784"/>
                    </a:cubicBezTo>
                    <a:cubicBezTo>
                      <a:pt x="0" y="177771"/>
                      <a:pt x="62021" y="132467"/>
                      <a:pt x="120252" y="133667"/>
                    </a:cubicBezTo>
                    <a:cubicBezTo>
                      <a:pt x="126552" y="109491"/>
                      <a:pt x="140127" y="87250"/>
                      <a:pt x="160570" y="70743"/>
                    </a:cubicBezTo>
                    <a:cubicBezTo>
                      <a:pt x="203932" y="35740"/>
                      <a:pt x="270635" y="41786"/>
                      <a:pt x="306486" y="72090"/>
                    </a:cubicBezTo>
                    <a:cubicBezTo>
                      <a:pt x="331528" y="27859"/>
                      <a:pt x="371415" y="0"/>
                      <a:pt x="422880" y="0"/>
                    </a:cubicBezTo>
                    <a:close/>
                  </a:path>
                </a:pathLst>
              </a:custGeom>
              <a:solidFill>
                <a:srgbClr val="6D3B3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45493" y="3057"/>
                <a:ext cx="502611" cy="440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95798" y="1901325"/>
              <a:ext cx="9204514" cy="4765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3060" indent="-271530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Operating cost: near-zero    </a:t>
              </a:r>
            </a:p>
            <a:p>
              <a:pPr algn="l" marL="543060" indent="-271530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Limited running cost with </a:t>
              </a:r>
            </a:p>
            <a:p>
              <a:pPr algn="l">
                <a:lnSpc>
                  <a:spcPts val="3521"/>
                </a:lnSpc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1. </a:t>
              </a: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M</a:t>
              </a: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inor battery replacement cost                                     2.Periodic sensor calibration cost</a:t>
              </a:r>
            </a:p>
            <a:p>
              <a:pPr algn="l" marL="543060" indent="-271530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No manpower/sampling cost</a:t>
              </a:r>
            </a:p>
            <a:p>
              <a:pPr algn="l" marL="543060" indent="-271530" lvl="1">
                <a:lnSpc>
                  <a:spcPts val="3521"/>
                </a:lnSpc>
                <a:buFont typeface="Arial"/>
                <a:buChar char="•"/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Low scaling marginal cost because of</a:t>
              </a:r>
            </a:p>
            <a:p>
              <a:pPr algn="l">
                <a:lnSpc>
                  <a:spcPts val="3521"/>
                </a:lnSpc>
              </a:pPr>
              <a:r>
                <a:rPr lang="en-US" sz="2515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shared architecture</a:t>
              </a:r>
            </a:p>
            <a:p>
              <a:pPr algn="l">
                <a:lnSpc>
                  <a:spcPts val="3521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895798" y="1084334"/>
              <a:ext cx="6412491" cy="602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2"/>
                </a:lnSpc>
                <a:spcBef>
                  <a:spcPct val="0"/>
                </a:spcBef>
              </a:pPr>
              <a:r>
                <a:rPr lang="en-US" b="true" sz="2537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JUSTIFIED AS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535720" y="1602015"/>
              <a:ext cx="4663646" cy="211984"/>
            </a:xfrm>
            <a:custGeom>
              <a:avLst/>
              <a:gdLst/>
              <a:ahLst/>
              <a:cxnLst/>
              <a:rect r="r" b="b" t="t" l="l"/>
              <a:pathLst>
                <a:path h="211984" w="4663646">
                  <a:moveTo>
                    <a:pt x="0" y="0"/>
                  </a:moveTo>
                  <a:lnTo>
                    <a:pt x="4663647" y="0"/>
                  </a:lnTo>
                  <a:lnTo>
                    <a:pt x="4663647" y="211984"/>
                  </a:lnTo>
                  <a:lnTo>
                    <a:pt x="0" y="211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662" y="2060535"/>
            <a:ext cx="3246304" cy="8226465"/>
            <a:chOff x="0" y="0"/>
            <a:chExt cx="472449" cy="1197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448" cy="1186373"/>
            </a:xfrm>
            <a:custGeom>
              <a:avLst/>
              <a:gdLst/>
              <a:ahLst/>
              <a:cxnLst/>
              <a:rect r="r" b="b" t="t" l="l"/>
              <a:pathLst>
                <a:path h="1186373" w="472448">
                  <a:moveTo>
                    <a:pt x="472448" y="59408"/>
                  </a:moveTo>
                  <a:lnTo>
                    <a:pt x="472448" y="1164814"/>
                  </a:lnTo>
                  <a:cubicBezTo>
                    <a:pt x="472448" y="1172031"/>
                    <a:pt x="468837" y="1178769"/>
                    <a:pt x="462828" y="1182766"/>
                  </a:cubicBezTo>
                  <a:cubicBezTo>
                    <a:pt x="456818" y="1186762"/>
                    <a:pt x="449207" y="1187487"/>
                    <a:pt x="442552" y="1184696"/>
                  </a:cubicBezTo>
                  <a:lnTo>
                    <a:pt x="266121" y="1110710"/>
                  </a:lnTo>
                  <a:cubicBezTo>
                    <a:pt x="246997" y="1102690"/>
                    <a:pt x="225452" y="1102690"/>
                    <a:pt x="206328" y="1110710"/>
                  </a:cubicBezTo>
                  <a:lnTo>
                    <a:pt x="29897" y="1184696"/>
                  </a:lnTo>
                  <a:cubicBezTo>
                    <a:pt x="23241" y="1187487"/>
                    <a:pt x="15630" y="1186762"/>
                    <a:pt x="9621" y="1182766"/>
                  </a:cubicBezTo>
                  <a:cubicBezTo>
                    <a:pt x="3611" y="1178769"/>
                    <a:pt x="0" y="1172031"/>
                    <a:pt x="0" y="1164814"/>
                  </a:cubicBezTo>
                  <a:lnTo>
                    <a:pt x="0" y="57746"/>
                  </a:lnTo>
                  <a:cubicBezTo>
                    <a:pt x="0" y="22860"/>
                    <a:pt x="28347" y="0"/>
                    <a:pt x="61418" y="0"/>
                  </a:cubicBezTo>
                  <a:lnTo>
                    <a:pt x="411030" y="0"/>
                  </a:lnTo>
                  <a:cubicBezTo>
                    <a:pt x="444102" y="0"/>
                    <a:pt x="472448" y="21590"/>
                    <a:pt x="472448" y="61070"/>
                  </a:cubicBezTo>
                  <a:lnTo>
                    <a:pt x="472448" y="59408"/>
                  </a:lnTo>
                  <a:cubicBezTo>
                    <a:pt x="472448" y="59408"/>
                    <a:pt x="472448" y="59408"/>
                    <a:pt x="472448" y="59408"/>
                  </a:cubicBezTo>
                  <a:close/>
                </a:path>
              </a:pathLst>
            </a:custGeom>
            <a:solidFill>
              <a:srgbClr val="E2D4B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2449" cy="1117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917" y="2060535"/>
            <a:ext cx="3474082" cy="8226465"/>
            <a:chOff x="0" y="0"/>
            <a:chExt cx="432183" cy="1023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183" cy="1012534"/>
            </a:xfrm>
            <a:custGeom>
              <a:avLst/>
              <a:gdLst/>
              <a:ahLst/>
              <a:cxnLst/>
              <a:rect r="r" b="b" t="t" l="l"/>
              <a:pathLst>
                <a:path h="1012534" w="432183">
                  <a:moveTo>
                    <a:pt x="432183" y="56940"/>
                  </a:moveTo>
                  <a:lnTo>
                    <a:pt x="432183" y="993096"/>
                  </a:lnTo>
                  <a:cubicBezTo>
                    <a:pt x="432183" y="999716"/>
                    <a:pt x="428814" y="1005881"/>
                    <a:pt x="423243" y="1009456"/>
                  </a:cubicBezTo>
                  <a:cubicBezTo>
                    <a:pt x="417671" y="1013031"/>
                    <a:pt x="410663" y="1013525"/>
                    <a:pt x="404646" y="1010766"/>
                  </a:cubicBezTo>
                  <a:lnTo>
                    <a:pt x="243629" y="936954"/>
                  </a:lnTo>
                  <a:cubicBezTo>
                    <a:pt x="226146" y="928939"/>
                    <a:pt x="206038" y="928939"/>
                    <a:pt x="188554" y="936954"/>
                  </a:cubicBezTo>
                  <a:lnTo>
                    <a:pt x="27538" y="1010766"/>
                  </a:lnTo>
                  <a:cubicBezTo>
                    <a:pt x="21520" y="1013525"/>
                    <a:pt x="14512" y="1013031"/>
                    <a:pt x="8941" y="1009456"/>
                  </a:cubicBezTo>
                  <a:cubicBezTo>
                    <a:pt x="3369" y="1005881"/>
                    <a:pt x="0" y="999716"/>
                    <a:pt x="0" y="993096"/>
                  </a:cubicBezTo>
                  <a:lnTo>
                    <a:pt x="0" y="55553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58328"/>
                  </a:cubicBezTo>
                  <a:lnTo>
                    <a:pt x="432183" y="56940"/>
                  </a:lnTo>
                  <a:cubicBezTo>
                    <a:pt x="432183" y="56940"/>
                    <a:pt x="432183" y="56940"/>
                    <a:pt x="432183" y="56940"/>
                  </a:cubicBezTo>
                  <a:close/>
                </a:path>
              </a:pathLst>
            </a:custGeom>
            <a:solidFill>
              <a:srgbClr val="A5997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32183" cy="943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9629" y="2060535"/>
            <a:ext cx="3465622" cy="8226465"/>
            <a:chOff x="0" y="0"/>
            <a:chExt cx="504367" cy="1197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367" cy="1187563"/>
            </a:xfrm>
            <a:custGeom>
              <a:avLst/>
              <a:gdLst/>
              <a:ahLst/>
              <a:cxnLst/>
              <a:rect r="r" b="b" t="t" l="l"/>
              <a:pathLst>
                <a:path h="1187563" w="504367">
                  <a:moveTo>
                    <a:pt x="504367" y="59408"/>
                  </a:moveTo>
                  <a:lnTo>
                    <a:pt x="504367" y="1166865"/>
                  </a:lnTo>
                  <a:cubicBezTo>
                    <a:pt x="504367" y="1173711"/>
                    <a:pt x="500982" y="1180113"/>
                    <a:pt x="495326" y="1183968"/>
                  </a:cubicBezTo>
                  <a:cubicBezTo>
                    <a:pt x="489670" y="1187823"/>
                    <a:pt x="482473" y="1188633"/>
                    <a:pt x="476102" y="1186130"/>
                  </a:cubicBezTo>
                  <a:lnTo>
                    <a:pt x="280448" y="1109276"/>
                  </a:lnTo>
                  <a:cubicBezTo>
                    <a:pt x="262281" y="1102139"/>
                    <a:pt x="242086" y="1102139"/>
                    <a:pt x="223919" y="1109276"/>
                  </a:cubicBezTo>
                  <a:lnTo>
                    <a:pt x="28265" y="1186130"/>
                  </a:lnTo>
                  <a:cubicBezTo>
                    <a:pt x="21894" y="1188633"/>
                    <a:pt x="14697" y="1187823"/>
                    <a:pt x="9041" y="1183968"/>
                  </a:cubicBezTo>
                  <a:cubicBezTo>
                    <a:pt x="3384" y="1180113"/>
                    <a:pt x="0" y="1173711"/>
                    <a:pt x="0" y="1166865"/>
                  </a:cubicBezTo>
                  <a:lnTo>
                    <a:pt x="0" y="57746"/>
                  </a:lnTo>
                  <a:cubicBezTo>
                    <a:pt x="0" y="22860"/>
                    <a:pt x="30262" y="0"/>
                    <a:pt x="65568" y="0"/>
                  </a:cubicBezTo>
                  <a:lnTo>
                    <a:pt x="438799" y="0"/>
                  </a:lnTo>
                  <a:cubicBezTo>
                    <a:pt x="474105" y="0"/>
                    <a:pt x="504367" y="21590"/>
                    <a:pt x="504367" y="61070"/>
                  </a:cubicBezTo>
                  <a:lnTo>
                    <a:pt x="504367" y="59408"/>
                  </a:lnTo>
                  <a:cubicBezTo>
                    <a:pt x="504367" y="59408"/>
                    <a:pt x="504367" y="59408"/>
                    <a:pt x="504367" y="59408"/>
                  </a:cubicBezTo>
                  <a:close/>
                </a:path>
              </a:pathLst>
            </a:custGeom>
            <a:solidFill>
              <a:srgbClr val="958F8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04367" cy="1117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06226" y="2108473"/>
            <a:ext cx="3553152" cy="8178527"/>
            <a:chOff x="0" y="0"/>
            <a:chExt cx="517106" cy="1190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7106" cy="1181008"/>
            </a:xfrm>
            <a:custGeom>
              <a:avLst/>
              <a:gdLst/>
              <a:ahLst/>
              <a:cxnLst/>
              <a:rect r="r" b="b" t="t" l="l"/>
              <a:pathLst>
                <a:path h="1181008" w="517106">
                  <a:moveTo>
                    <a:pt x="517106" y="59309"/>
                  </a:moveTo>
                  <a:lnTo>
                    <a:pt x="517106" y="1160637"/>
                  </a:lnTo>
                  <a:cubicBezTo>
                    <a:pt x="517106" y="1167344"/>
                    <a:pt x="513804" y="1173621"/>
                    <a:pt x="508278" y="1177421"/>
                  </a:cubicBezTo>
                  <a:cubicBezTo>
                    <a:pt x="502752" y="1181222"/>
                    <a:pt x="495710" y="1182059"/>
                    <a:pt x="489447" y="1179659"/>
                  </a:cubicBezTo>
                  <a:lnTo>
                    <a:pt x="286211" y="1101793"/>
                  </a:lnTo>
                  <a:cubicBezTo>
                    <a:pt x="268403" y="1094970"/>
                    <a:pt x="248702" y="1094970"/>
                    <a:pt x="230894" y="1101793"/>
                  </a:cubicBezTo>
                  <a:lnTo>
                    <a:pt x="27659" y="1179659"/>
                  </a:lnTo>
                  <a:cubicBezTo>
                    <a:pt x="21396" y="1182059"/>
                    <a:pt x="14353" y="1181222"/>
                    <a:pt x="8827" y="1177421"/>
                  </a:cubicBezTo>
                  <a:cubicBezTo>
                    <a:pt x="3301" y="1173621"/>
                    <a:pt x="0" y="1167344"/>
                    <a:pt x="0" y="1160637"/>
                  </a:cubicBezTo>
                  <a:lnTo>
                    <a:pt x="0" y="57658"/>
                  </a:lnTo>
                  <a:cubicBezTo>
                    <a:pt x="0" y="22860"/>
                    <a:pt x="31026" y="0"/>
                    <a:pt x="67224" y="0"/>
                  </a:cubicBezTo>
                  <a:lnTo>
                    <a:pt x="449882" y="0"/>
                  </a:lnTo>
                  <a:cubicBezTo>
                    <a:pt x="486079" y="0"/>
                    <a:pt x="517106" y="21590"/>
                    <a:pt x="517106" y="60960"/>
                  </a:cubicBezTo>
                  <a:lnTo>
                    <a:pt x="517106" y="59309"/>
                  </a:lnTo>
                  <a:cubicBezTo>
                    <a:pt x="517106" y="59309"/>
                    <a:pt x="517106" y="59309"/>
                    <a:pt x="517106" y="59309"/>
                  </a:cubicBezTo>
                  <a:close/>
                </a:path>
              </a:pathLst>
            </a:custGeom>
            <a:solidFill>
              <a:srgbClr val="B2AC9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17106" cy="1110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40353" y="2060535"/>
            <a:ext cx="3497823" cy="8226465"/>
            <a:chOff x="0" y="0"/>
            <a:chExt cx="509053" cy="11972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053" cy="1187721"/>
            </a:xfrm>
            <a:custGeom>
              <a:avLst/>
              <a:gdLst/>
              <a:ahLst/>
              <a:cxnLst/>
              <a:rect r="r" b="b" t="t" l="l"/>
              <a:pathLst>
                <a:path h="1187721" w="509053">
                  <a:moveTo>
                    <a:pt x="509053" y="59408"/>
                  </a:moveTo>
                  <a:lnTo>
                    <a:pt x="509053" y="1167145"/>
                  </a:lnTo>
                  <a:cubicBezTo>
                    <a:pt x="509053" y="1173939"/>
                    <a:pt x="505700" y="1180294"/>
                    <a:pt x="500092" y="1184129"/>
                  </a:cubicBezTo>
                  <a:cubicBezTo>
                    <a:pt x="494484" y="1187964"/>
                    <a:pt x="487345" y="1188784"/>
                    <a:pt x="481014" y="1186320"/>
                  </a:cubicBezTo>
                  <a:lnTo>
                    <a:pt x="282566" y="1109085"/>
                  </a:lnTo>
                  <a:cubicBezTo>
                    <a:pt x="264532" y="1102067"/>
                    <a:pt x="244521" y="1102067"/>
                    <a:pt x="226488" y="1109085"/>
                  </a:cubicBezTo>
                  <a:lnTo>
                    <a:pt x="28039" y="1186320"/>
                  </a:lnTo>
                  <a:cubicBezTo>
                    <a:pt x="21708" y="1188784"/>
                    <a:pt x="14569" y="1187964"/>
                    <a:pt x="8961" y="1184129"/>
                  </a:cubicBezTo>
                  <a:cubicBezTo>
                    <a:pt x="3353" y="1180294"/>
                    <a:pt x="0" y="1173939"/>
                    <a:pt x="0" y="1167145"/>
                  </a:cubicBezTo>
                  <a:lnTo>
                    <a:pt x="0" y="57746"/>
                  </a:lnTo>
                  <a:cubicBezTo>
                    <a:pt x="0" y="22860"/>
                    <a:pt x="30543" y="0"/>
                    <a:pt x="66177" y="0"/>
                  </a:cubicBezTo>
                  <a:lnTo>
                    <a:pt x="442876" y="0"/>
                  </a:lnTo>
                  <a:cubicBezTo>
                    <a:pt x="478510" y="0"/>
                    <a:pt x="509053" y="21590"/>
                    <a:pt x="509053" y="61070"/>
                  </a:cubicBezTo>
                  <a:lnTo>
                    <a:pt x="509053" y="59408"/>
                  </a:lnTo>
                  <a:cubicBezTo>
                    <a:pt x="509053" y="59408"/>
                    <a:pt x="509053" y="59408"/>
                    <a:pt x="509053" y="59408"/>
                  </a:cubicBezTo>
                  <a:close/>
                </a:path>
              </a:pathLst>
            </a:custGeom>
            <a:solidFill>
              <a:srgbClr val="C7AC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09053" cy="1117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4833" y="9398157"/>
            <a:ext cx="711364" cy="711364"/>
            <a:chOff x="0" y="0"/>
            <a:chExt cx="948486" cy="94848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48486" cy="94848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5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85956" y="220167"/>
              <a:ext cx="376573" cy="5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5"/>
                </a:lnSpc>
              </a:pPr>
              <a:r>
                <a:rPr lang="en-US" b="true" sz="3158" spc="157">
                  <a:solidFill>
                    <a:srgbClr val="EAE4D4"/>
                  </a:solidFill>
                  <a:latin typeface="Anek Bangla SemiExpanded Ultra-Bold"/>
                  <a:ea typeface="Anek Bangla SemiExpanded Ultra-Bold"/>
                  <a:cs typeface="Anek Bangla SemiExpanded Ultra-Bold"/>
                  <a:sym typeface="Anek Bangla SemiExpanded Ultra-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97132" y="9398157"/>
            <a:ext cx="711364" cy="711364"/>
            <a:chOff x="0" y="0"/>
            <a:chExt cx="948486" cy="94848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48486" cy="94848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5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85956" y="220167"/>
              <a:ext cx="376573" cy="5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5"/>
                </a:lnSpc>
              </a:pPr>
              <a:r>
                <a:rPr lang="en-US" b="true" sz="3158" spc="157">
                  <a:solidFill>
                    <a:srgbClr val="EAE4D4"/>
                  </a:solidFill>
                  <a:latin typeface="Anek Bangla SemiExpanded Ultra-Bold"/>
                  <a:ea typeface="Anek Bangla SemiExpanded Ultra-Bold"/>
                  <a:cs typeface="Anek Bangla SemiExpanded Ultra-Bold"/>
                  <a:sym typeface="Anek Bangla SemiExpanded Ultra-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688850" y="9398157"/>
            <a:ext cx="711364" cy="711364"/>
            <a:chOff x="0" y="0"/>
            <a:chExt cx="948486" cy="94848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48486" cy="94848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5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85956" y="220167"/>
              <a:ext cx="376573" cy="5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5"/>
                </a:lnSpc>
              </a:pPr>
              <a:r>
                <a:rPr lang="en-US" b="true" sz="3158" spc="157">
                  <a:solidFill>
                    <a:srgbClr val="EAE4D4"/>
                  </a:solidFill>
                  <a:latin typeface="Anek Bangla SemiExpanded Ultra-Bold"/>
                  <a:ea typeface="Anek Bangla SemiExpanded Ultra-Bold"/>
                  <a:cs typeface="Anek Bangla SemiExpanded Ultra-Bold"/>
                  <a:sym typeface="Anek Bangla SemiExpanded Ultra-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964328" y="9398157"/>
            <a:ext cx="711364" cy="711364"/>
            <a:chOff x="0" y="0"/>
            <a:chExt cx="948486" cy="948486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48486" cy="94848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5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85956" y="220167"/>
              <a:ext cx="376573" cy="5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5"/>
                </a:lnSpc>
              </a:pPr>
              <a:r>
                <a:rPr lang="en-US" b="true" sz="3158" spc="157">
                  <a:solidFill>
                    <a:srgbClr val="EAE4D4"/>
                  </a:solidFill>
                  <a:latin typeface="Anek Bangla SemiExpanded Ultra-Bold"/>
                  <a:ea typeface="Anek Bangla SemiExpanded Ultra-Bold"/>
                  <a:cs typeface="Anek Bangla SemiExpanded Ultra-Bold"/>
                  <a:sym typeface="Anek Bangla SemiExpanded Ultra-Bold"/>
                </a:rPr>
                <a:t>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34976" y="9398157"/>
            <a:ext cx="711364" cy="711364"/>
            <a:chOff x="0" y="0"/>
            <a:chExt cx="948486" cy="94848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948486" cy="948486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5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285956" y="220167"/>
              <a:ext cx="376573" cy="5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95"/>
                </a:lnSpc>
              </a:pPr>
              <a:r>
                <a:rPr lang="en-US" b="true" sz="3158" spc="157">
                  <a:solidFill>
                    <a:srgbClr val="EAE4D4"/>
                  </a:solidFill>
                  <a:latin typeface="Anek Bangla SemiExpanded Ultra-Bold"/>
                  <a:ea typeface="Anek Bangla SemiExpanded Ultra-Bold"/>
                  <a:cs typeface="Anek Bangla SemiExpanded Ultra-Bold"/>
                  <a:sym typeface="Anek Bangla SemiExpanded Ultra-Bold"/>
                </a:rPr>
                <a:t>4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402319" y="2295380"/>
            <a:ext cx="1056393" cy="1388051"/>
          </a:xfrm>
          <a:custGeom>
            <a:avLst/>
            <a:gdLst/>
            <a:ahLst/>
            <a:cxnLst/>
            <a:rect r="r" b="b" t="t" l="l"/>
            <a:pathLst>
              <a:path h="1388051" w="1056393">
                <a:moveTo>
                  <a:pt x="0" y="0"/>
                </a:moveTo>
                <a:lnTo>
                  <a:pt x="1056393" y="0"/>
                </a:lnTo>
                <a:lnTo>
                  <a:pt x="1056393" y="1388051"/>
                </a:lnTo>
                <a:lnTo>
                  <a:pt x="0" y="138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629289" y="2466848"/>
            <a:ext cx="1647051" cy="1441718"/>
          </a:xfrm>
          <a:custGeom>
            <a:avLst/>
            <a:gdLst/>
            <a:ahLst/>
            <a:cxnLst/>
            <a:rect r="r" b="b" t="t" l="l"/>
            <a:pathLst>
              <a:path h="1441718" w="1647051">
                <a:moveTo>
                  <a:pt x="0" y="0"/>
                </a:moveTo>
                <a:lnTo>
                  <a:pt x="1647051" y="0"/>
                </a:lnTo>
                <a:lnTo>
                  <a:pt x="1647051" y="1441718"/>
                </a:lnTo>
                <a:lnTo>
                  <a:pt x="0" y="1441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173438" y="2416790"/>
            <a:ext cx="1618362" cy="1266641"/>
          </a:xfrm>
          <a:custGeom>
            <a:avLst/>
            <a:gdLst/>
            <a:ahLst/>
            <a:cxnLst/>
            <a:rect r="r" b="b" t="t" l="l"/>
            <a:pathLst>
              <a:path h="1266641" w="1618362">
                <a:moveTo>
                  <a:pt x="0" y="0"/>
                </a:moveTo>
                <a:lnTo>
                  <a:pt x="1618363" y="0"/>
                </a:lnTo>
                <a:lnTo>
                  <a:pt x="1618363" y="1266641"/>
                </a:lnTo>
                <a:lnTo>
                  <a:pt x="0" y="1266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7" t="0" r="-667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354000" y="2487181"/>
            <a:ext cx="1905300" cy="1349423"/>
          </a:xfrm>
          <a:custGeom>
            <a:avLst/>
            <a:gdLst/>
            <a:ahLst/>
            <a:cxnLst/>
            <a:rect r="r" b="b" t="t" l="l"/>
            <a:pathLst>
              <a:path h="1349423" w="1905300">
                <a:moveTo>
                  <a:pt x="0" y="0"/>
                </a:moveTo>
                <a:lnTo>
                  <a:pt x="1905300" y="0"/>
                </a:lnTo>
                <a:lnTo>
                  <a:pt x="1905300" y="1349423"/>
                </a:lnTo>
                <a:lnTo>
                  <a:pt x="0" y="134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928" t="0" r="-9928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1792051" y="2466848"/>
            <a:ext cx="1685474" cy="1216583"/>
          </a:xfrm>
          <a:custGeom>
            <a:avLst/>
            <a:gdLst/>
            <a:ahLst/>
            <a:cxnLst/>
            <a:rect r="r" b="b" t="t" l="l"/>
            <a:pathLst>
              <a:path h="1216583" w="1685474">
                <a:moveTo>
                  <a:pt x="0" y="0"/>
                </a:moveTo>
                <a:lnTo>
                  <a:pt x="1685474" y="0"/>
                </a:lnTo>
                <a:lnTo>
                  <a:pt x="1685474" y="1216583"/>
                </a:lnTo>
                <a:lnTo>
                  <a:pt x="0" y="12165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3542668" y="362545"/>
            <a:ext cx="11528958" cy="155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0"/>
              </a:lnSpc>
              <a:spcBef>
                <a:spcPct val="0"/>
              </a:spcBef>
            </a:pPr>
            <a:r>
              <a:rPr lang="en-US" b="true" sz="6500" spc="-91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COR</a:t>
            </a:r>
            <a:r>
              <a:rPr lang="en-US" b="true" sz="6500" spc="-91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E OPERATIONAL CAPABILITIES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73651" y="3827079"/>
            <a:ext cx="2113730" cy="9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</a:pPr>
            <a:r>
              <a:rPr lang="en-US" b="true" sz="21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WATER QUALITY DIAGNOSTICS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384907" y="4058106"/>
            <a:ext cx="2092618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8"/>
              </a:lnSpc>
            </a:pPr>
            <a:r>
              <a:rPr lang="en-US" b="true" sz="21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D</a:t>
            </a:r>
            <a:r>
              <a:rPr lang="en-US" b="true" sz="21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ISTRIBUTION PARITY CHECK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19969" y="4961558"/>
            <a:ext cx="2977979" cy="445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2"/>
              </a:lnSpc>
            </a:pPr>
            <a:r>
              <a:rPr lang="en-US" sz="2290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CH</a:t>
            </a:r>
            <a:r>
              <a:rPr lang="en-US" sz="2290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ECKS TURBIDITY, PH, CHLORINE &amp; E.COLI AT FILTRATION OUTPUT AND OHT END</a:t>
            </a:r>
          </a:p>
          <a:p>
            <a:pPr algn="ctr" marL="0" indent="0" lvl="0">
              <a:lnSpc>
                <a:spcPts val="2932"/>
              </a:lnSpc>
            </a:pPr>
          </a:p>
          <a:p>
            <a:pPr algn="ctr" marL="0" indent="0" lvl="0">
              <a:lnSpc>
                <a:spcPts val="2932"/>
              </a:lnSpc>
            </a:pPr>
            <a:r>
              <a:rPr lang="en-US" sz="2290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 THRESHOLD BREACH → SMS ALERT TO OPERATOR PROMPTING TO SHUTDOWN OF PUMP/VALVE.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53340" y="4011497"/>
            <a:ext cx="1742187" cy="70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6"/>
              </a:lnSpc>
            </a:pPr>
            <a:r>
              <a:rPr lang="en-US" b="true" sz="22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 LEAKAGE DETECTION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071626" y="4001132"/>
            <a:ext cx="2476950" cy="97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b="true" sz="20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NON SUPPLY LEAKAGE</a:t>
            </a:r>
            <a:r>
              <a:rPr lang="en-US" b="true" sz="20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 &amp; FLUSH MANAGEMENT 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04591" y="4805867"/>
            <a:ext cx="3039685" cy="43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24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Flags a main-line burst when ΔQ &gt; 15% of Qnode2 for over 60 seconds</a:t>
            </a:r>
          </a:p>
          <a:p>
            <a:pPr algn="ctr" marL="0" indent="0" lvl="0">
              <a:lnSpc>
                <a:spcPts val="2876"/>
              </a:lnSpc>
            </a:pPr>
            <a:r>
              <a:rPr lang="en-US" sz="224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ΔQ=</a:t>
            </a:r>
            <a:r>
              <a:rPr lang="en-US" sz="224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Qnode2 − Qnode3</a:t>
            </a:r>
          </a:p>
          <a:p>
            <a:pPr algn="ctr" marL="0" indent="0" lvl="0">
              <a:lnSpc>
                <a:spcPts val="2876"/>
              </a:lnSpc>
            </a:pPr>
          </a:p>
          <a:p>
            <a:pPr algn="ctr" marL="0" indent="0" lvl="0">
              <a:lnSpc>
                <a:spcPts val="2876"/>
              </a:lnSpc>
            </a:pPr>
            <a:r>
              <a:rPr lang="en-US" sz="224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 Alert if ΔQ&gt;0.15×Qnode2 </a:t>
            </a:r>
          </a:p>
          <a:p>
            <a:pPr algn="ctr" marL="0" indent="0" lvl="0">
              <a:lnSpc>
                <a:spcPts val="2876"/>
              </a:lnSpc>
            </a:pPr>
            <a:r>
              <a:rPr lang="en-US" sz="224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for &gt;60s (filters noise/surges) → SMS MAIN_LINE_BURST with junction location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153876" y="4930609"/>
            <a:ext cx="2920538" cy="456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0"/>
              </a:lnSpc>
            </a:pP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T</a:t>
            </a: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racks supply windows</a:t>
            </a:r>
          </a:p>
          <a:p>
            <a:pPr algn="ctr" marL="0" indent="0" lvl="0">
              <a:lnSpc>
                <a:spcPts val="2780"/>
              </a:lnSpc>
            </a:pPr>
          </a:p>
          <a:p>
            <a:pPr algn="l" marL="0" indent="0" lvl="0">
              <a:lnSpc>
                <a:spcPts val="2780"/>
              </a:lnSpc>
            </a:pP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           </a:t>
            </a: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In-window: </a:t>
            </a:r>
          </a:p>
          <a:p>
            <a:pPr algn="ctr" marL="0" indent="0" lvl="0">
              <a:lnSpc>
                <a:spcPts val="2780"/>
              </a:lnSpc>
            </a:pP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Qnode2&gt;0 &amp; Qnode3=0 for 10 min → BLOCKAGE</a:t>
            </a:r>
          </a:p>
          <a:p>
            <a:pPr algn="ctr" marL="0" indent="0" lvl="0">
              <a:lnSpc>
                <a:spcPts val="2780"/>
              </a:lnSpc>
            </a:pPr>
          </a:p>
          <a:p>
            <a:pPr algn="ctr" marL="0" indent="0" lvl="0">
              <a:lnSpc>
                <a:spcPts val="2780"/>
              </a:lnSpc>
            </a:pP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 Off-window: </a:t>
            </a:r>
          </a:p>
          <a:p>
            <a:pPr algn="ctr" marL="0" indent="0" lvl="0">
              <a:lnSpc>
                <a:spcPts val="2780"/>
              </a:lnSpc>
            </a:pPr>
            <a:r>
              <a:rPr lang="en-US" sz="2172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Qnode2=0 &amp; Qnode3=0 → no alert, deep sleep mode</a:t>
            </a:r>
          </a:p>
          <a:p>
            <a:pPr algn="ctr" marL="0" indent="0" lvl="0">
              <a:lnSpc>
                <a:spcPts val="2780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14888003" y="5096542"/>
            <a:ext cx="3056927" cy="387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3"/>
              </a:lnSpc>
            </a:pPr>
            <a:r>
              <a:rPr lang="en-US" sz="219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Detects prol</a:t>
            </a:r>
            <a:r>
              <a:rPr lang="en-US" sz="219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onged zero-pressure (&gt;2 hrs) during off-hours that risks contaminant ingress at joints/cracks</a:t>
            </a:r>
          </a:p>
          <a:p>
            <a:pPr algn="ctr" marL="0" indent="0" lvl="0">
              <a:lnSpc>
                <a:spcPts val="2813"/>
              </a:lnSpc>
            </a:pPr>
          </a:p>
          <a:p>
            <a:pPr algn="ctr" marL="0" indent="0" lvl="0">
              <a:lnSpc>
                <a:spcPts val="2813"/>
              </a:lnSpc>
            </a:pPr>
            <a:r>
              <a:rPr lang="en-US" sz="219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→  SMS alert + </a:t>
            </a:r>
          </a:p>
          <a:p>
            <a:pPr algn="ctr" marL="0" indent="0" lvl="0">
              <a:lnSpc>
                <a:spcPts val="2813"/>
              </a:lnSpc>
            </a:pPr>
            <a:r>
              <a:rPr lang="en-US" sz="2197">
                <a:solidFill>
                  <a:srgbClr val="000000"/>
                </a:solidFill>
                <a:latin typeface="Anek Bangla SemiExpanded Light"/>
                <a:ea typeface="Anek Bangla SemiExpanded Light"/>
                <a:cs typeface="Anek Bangla SemiExpanded Light"/>
                <a:sym typeface="Anek Bangla SemiExpanded Light"/>
              </a:rPr>
              <a:t>2 min flush before next cycle</a:t>
            </a:r>
          </a:p>
          <a:p>
            <a:pPr algn="ctr" marL="0" indent="0" lvl="0">
              <a:lnSpc>
                <a:spcPts val="2813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11291191" y="3902340"/>
            <a:ext cx="2783223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INTERMITTENT SUPPLY MONITORING AND PIPE BLOCKAGE MONITORING 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875647" y="4829114"/>
            <a:ext cx="3154335" cy="444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E</a:t>
            </a: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fficiency Ratio = (Vnode3/Vnode2) × 100, where V = Σ(Q×Δt)</a:t>
            </a:r>
          </a:p>
          <a:p>
            <a:pPr algn="ctr">
              <a:lnSpc>
                <a:spcPts val="2772"/>
              </a:lnSpc>
              <a:spcBef>
                <a:spcPct val="0"/>
              </a:spcBef>
            </a:pPr>
          </a:p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 Threshold_min = </a:t>
            </a:r>
          </a:p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100% − [β + (N×α)]</a:t>
            </a:r>
          </a:p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 N = houses fed, α = 0.8%/house, β = 5% fixed loss</a:t>
            </a:r>
          </a:p>
          <a:p>
            <a:pPr algn="ctr">
              <a:lnSpc>
                <a:spcPts val="2772"/>
              </a:lnSpc>
              <a:spcBef>
                <a:spcPct val="0"/>
              </a:spcBef>
            </a:pPr>
          </a:p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 Ratio &lt; Threshold → SMS alert (unequal distribution)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EA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DAHMwDGGbyM</dc:identifier>
  <dcterms:modified xsi:type="dcterms:W3CDTF">2011-08-01T06:04:30Z</dcterms:modified>
  <cp:revision>1</cp:revision>
  <dc:title>SMART RURAL WATER QUALITY &amp; DISTRIBUTION MONITOR</dc:title>
</cp:coreProperties>
</file>